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9273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1] Bonjour, nous sommes [noms] et nous présentons notre plateforme intelligente de mobilité urbaine, réalisée dans le cadre du projet d'études M2 Big Data &amp; IA. L'objectif : exploiter des données ouvertes pour anticiper la congestion, optimiser les trajets et aider citoyens et gestionnaires. Voici notre plan. (Pensez à afficher votre nom à l'écran lors de votre prise de parole.)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1] Nous allons d'abord poser le contexte et les objectifs, puis détailler l'architecture, les données et le modèle. La partie centrale sera une démonstration en direct du dashboard, avant de conclure sur les résultats, les limites et les perspectives. Durée visée : environ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1] Les villes font face à une congestion chronique, source de pollution et de perte de temps. Or il existe énormément de données ouvertes sur le trafic, la météo, la qualité de l'air. Le défi est de les agréger malgré leur hétérogénéité, pour produire de l'information utile. C'est notre problématique.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2] Nos objectifs sont au nombre de six : anticiper la congestion, optimiser les itinéraires, réduire l'impact écologique, impliquer les citoyens, donner des outils de pilotage aux gestionnaires, et le tout de façon industrialisable. Chacun de ces objectifs se retrouve concrètement dans la solution.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2] L'architecture est en microservices, orchestrés par Docker Compose. Le pipeline ETL collecte et nettoie les données, les stocke dans PostgreSQL avec l'extension spatiale PostGIS. L'API Flask expose ces données et les prédictions. Le dashboard Streamlit consomme l'API. Tout se lance avec une seule commande, ce qui garantit la reproductibilité.</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2] Nous exploitons trois catégories de données ouvertes : le trafic via OpenDataSoft, la météo et la qualité de l'air via Open-Meteo, et les signalements citoyens. Le pipeline propose trois modes, dont un mode offline pour la démonstration. Surtout, une couche qualité nettoie les données : déduplication, contrôle des valeurs, et chaque exécution est historisée pour la traçabilité.</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3] Le cœur prédictif est un modèle hybride. ARIMA capte la tendance et la saisonnalité linéaires. Un réseau de neurones MLP apprend ensuite les résidus, à partir de variables calendaires comme les week-ends, les jours fériés et les heures de pointe — toutes connues à l'avance, donc utilisables pour prédire le futur. Nous l'évaluons rigoureusement par backtest temporel : il réduit l'erreur d'environ 50 % face à une baseline naïve.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3] Passons maintenant à la démonstration. Je vais partager mon écran et vous montrer le dashboard en conditions réelles. (Basculez sur le navigateur, onglet par onglet.)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3] Voici la vue d'ensemble. En haut, l'état du trafic en temps réel pour la zone sélectionnée, avec un indice de congestion et la vitesse. À droite, les recommandations générées automatiquement, et le formulaire de signalement citoyen. En dessous, la carte des zones et la courbe de prédiction de congestion.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3] Voici la fonctionnalité phare : l'optimisation d'itinéraire. L'utilisateur saisit un départ et une arrivée. Nous calculons plusieurs itinéraires alternatifs, et pour chacun nous estimons la congestion PRÉDITE à l'heure de passage. Les trajets sont classés par durée réelle prévue — le plus rapide est signalé. L'utilisateur reste libre de choisir, et le trajet s'affiche coloré du vert au rouge selon la congestion.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4] La carte thermique offre une vision d'ensemble immédiate : les zones les plus congestionnées apparaissent en rouge. C'est un outil de pilotage visuel pour les gestionnaires, qui s'appuie sur les capacités spatiales de PostGIS.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4] L'onglet environnement intègre la dimension écologique : qualité de l'air (particules fines, dioxyde d'azote, indice AQI) et météo, avec leurs évolutions dans le temps. Ces données proviennent d'Open-Meteo, en temps réel.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4] Nous croisons trafic et pollution : la matrice de corrélation et le nuage de points permettent d'explorer les liens entre congestion et niveaux de polluants. C'est une brique d'aide à la décision pour les gestionnaires urbains.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4] Enfin, l'outil de simulation what-if : le gestionnaire fait varier un curseur de réduction du volume de trafic, et la plateforme estime immédiatement l'impact sur la congestion et le gain de temps, zone par zone. C'est un véritable outil d'aide à la décision.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1] Toute la logique est exposée par une API REST robuste : environ 18 endpoints, avec validation des entrées, limitation de débit et métriques Prometheus. Ici, l'endpoint d'évaluation renvoie en direct les métriques de performance du modèle face à la baseline.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1] Quelques chiffres clés : notre modèle réduit l'erreur d'environ 50 % par rapport à une baseline naïve ; nous intégrons trois catégories de données ouvertes ; le dashboard compte sept onglets ; et la qualité logicielle est assurée par une quarantaine de tests automatisés. Les KPIs du cahier des charges sont tous adressés.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2] Deux axes transverses. Côté Green IT : des recommandations écologiques, et une conception sobre (cache, pas de doublons, rétention des données, conteneurs légers). Côté qualité logicielle : une quarantaine de tests, du linting, et une intégration continue GitHub Actions qui valide chaque modification. Le projet est pensé pour être industrialisable.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3] Nous assumons certaines limites : un maillage de zones encore grossier, des alternatives d'itinéraires dépendantes du serveur de démonstration, et un modèle rechargé au démarrage. Les perspectives sont nombreuses : modèles plus avancés, intégration des transports publics via GTFS, industrialisation avec MLflow et Airflow, et une application mobile — l'API est déjà prête pour cela.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[Intervenant 4] Pour conclure, nous avons livré une plateforme complète et fonctionnelle, de la collecte des données jusqu'au dashboard interactif, répondant à toutes les exigences du cahier des charges. Elle est modulaire, testée, et prête à évoluer. Merci de votre attention, nous sommes à votre disposition pour vos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7E"/>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011680"/>
          </a:xfrm>
          <a:prstGeom prst="rect">
            <a:avLst/>
          </a:prstGeom>
          <a:noFill/>
        </p:spPr>
        <p:txBody>
          <a:bodyPr wrap="square" lIns="0" tIns="0" rIns="0" bIns="0" anchor="t">
            <a:spAutoFit/>
          </a:bodyPr>
          <a:lstStyle/>
          <a:p>
            <a:pPr algn="l">
              <a:spcBef>
                <a:spcPts val="0"/>
              </a:spcBef>
              <a:spcAft>
                <a:spcPts val="1000"/>
              </a:spcAft>
            </a:pPr>
            <a:r>
              <a:rPr sz="4000" b="1" i="0">
                <a:solidFill>
                  <a:srgbClr val="FFFFFF"/>
                </a:solidFill>
                <a:latin typeface="Trebuchet MS"/>
              </a:rPr>
              <a:t>Plateforme Intelligente de Mobilité Urbaine</a:t>
            </a:r>
          </a:p>
          <a:p>
            <a:pPr algn="l">
              <a:spcBef>
                <a:spcPts val="0"/>
              </a:spcBef>
              <a:spcAft>
                <a:spcPts val="400"/>
              </a:spcAft>
            </a:pPr>
            <a:r>
              <a:rPr sz="2000" b="0" i="0">
                <a:solidFill>
                  <a:srgbClr val="CADCFC"/>
                </a:solidFill>
                <a:latin typeface="Calibri"/>
              </a:rPr>
              <a:t>Optimisation de la mobilité urbaine à l'aide des données ouvertes</a:t>
            </a:r>
          </a:p>
        </p:txBody>
      </p:sp>
      <p:sp>
        <p:nvSpPr>
          <p:cNvPr id="3" name="TextBox 2"/>
          <p:cNvSpPr txBox="1"/>
          <p:nvPr/>
        </p:nvSpPr>
        <p:spPr>
          <a:xfrm>
            <a:off x="914400" y="4754880"/>
            <a:ext cx="10332720" cy="754053"/>
          </a:xfrm>
          <a:prstGeom prst="rect">
            <a:avLst/>
          </a:prstGeom>
          <a:noFill/>
        </p:spPr>
        <p:txBody>
          <a:bodyPr wrap="square" lIns="0" tIns="0" rIns="0" bIns="0" anchor="t">
            <a:spAutoFit/>
          </a:bodyPr>
          <a:lstStyle/>
          <a:p>
            <a:pPr algn="l">
              <a:spcBef>
                <a:spcPts val="0"/>
              </a:spcBef>
              <a:spcAft>
                <a:spcPts val="600"/>
              </a:spcAft>
            </a:pPr>
            <a:r>
              <a:rPr sz="1600" b="0" i="0" dirty="0" err="1">
                <a:solidFill>
                  <a:srgbClr val="CADCFC"/>
                </a:solidFill>
                <a:latin typeface="Calibri"/>
              </a:rPr>
              <a:t>Projet</a:t>
            </a:r>
            <a:r>
              <a:rPr sz="1600" b="0" i="0" dirty="0">
                <a:solidFill>
                  <a:srgbClr val="CADCFC"/>
                </a:solidFill>
                <a:latin typeface="Calibri"/>
              </a:rPr>
              <a:t> </a:t>
            </a:r>
            <a:r>
              <a:rPr sz="1600" b="0" i="0" dirty="0" err="1">
                <a:solidFill>
                  <a:srgbClr val="CADCFC"/>
                </a:solidFill>
                <a:latin typeface="Calibri"/>
              </a:rPr>
              <a:t>d'Études</a:t>
            </a:r>
            <a:r>
              <a:rPr sz="1600" b="0" i="0" dirty="0">
                <a:solidFill>
                  <a:srgbClr val="CADCFC"/>
                </a:solidFill>
                <a:latin typeface="Calibri"/>
              </a:rPr>
              <a:t> </a:t>
            </a:r>
            <a:r>
              <a:rPr lang="fr-FR" sz="1600" dirty="0">
                <a:solidFill>
                  <a:srgbClr val="CADCFC"/>
                </a:solidFill>
                <a:latin typeface="Calibri"/>
              </a:rPr>
              <a:t>:</a:t>
            </a:r>
            <a:r>
              <a:rPr sz="1600" b="0" i="0" dirty="0" err="1">
                <a:solidFill>
                  <a:srgbClr val="CADCFC"/>
                </a:solidFill>
                <a:latin typeface="Calibri"/>
              </a:rPr>
              <a:t>Mastère</a:t>
            </a:r>
            <a:r>
              <a:rPr sz="1600" b="0" i="0" dirty="0">
                <a:solidFill>
                  <a:srgbClr val="CADCFC"/>
                </a:solidFill>
                <a:latin typeface="Calibri"/>
              </a:rPr>
              <a:t> 2 Big Data &amp; IA SUP DE VINCI</a:t>
            </a:r>
          </a:p>
          <a:p>
            <a:pPr algn="l">
              <a:spcBef>
                <a:spcPts val="0"/>
              </a:spcBef>
              <a:spcAft>
                <a:spcPts val="0"/>
              </a:spcAft>
            </a:pPr>
            <a:r>
              <a:rPr sz="1400" b="0" i="0" dirty="0" err="1">
                <a:solidFill>
                  <a:srgbClr val="FFFFFF"/>
                </a:solidFill>
                <a:latin typeface="Calibri"/>
              </a:rPr>
              <a:t>Présenté</a:t>
            </a:r>
            <a:r>
              <a:rPr sz="1400" b="0" i="0" dirty="0">
                <a:solidFill>
                  <a:srgbClr val="FFFFFF"/>
                </a:solidFill>
                <a:latin typeface="Calibri"/>
              </a:rPr>
              <a:t> par : </a:t>
            </a:r>
            <a:r>
              <a:rPr lang="fr-FR" sz="1400" b="0" i="0" dirty="0">
                <a:solidFill>
                  <a:srgbClr val="FFFFFF"/>
                </a:solidFill>
                <a:latin typeface="Calibri"/>
              </a:rPr>
              <a:t>Sanou Faye / Ben Mouh Kawtar / Marlene </a:t>
            </a:r>
            <a:r>
              <a:rPr lang="fr-FR" sz="1400" b="0" i="0" dirty="0" err="1">
                <a:solidFill>
                  <a:srgbClr val="FFFFFF"/>
                </a:solidFill>
                <a:latin typeface="Calibri"/>
              </a:rPr>
              <a:t>Jodom</a:t>
            </a:r>
            <a:r>
              <a:rPr lang="fr-FR" sz="1400" b="0" i="0" dirty="0">
                <a:solidFill>
                  <a:srgbClr val="FFFFFF"/>
                </a:solidFill>
                <a:latin typeface="Calibri"/>
              </a:rPr>
              <a:t> </a:t>
            </a:r>
            <a:r>
              <a:rPr lang="fr-FR" sz="1400" b="0" i="0" dirty="0" err="1">
                <a:solidFill>
                  <a:srgbClr val="FFFFFF"/>
                </a:solidFill>
                <a:latin typeface="Calibri"/>
              </a:rPr>
              <a:t>Matsoko</a:t>
            </a:r>
            <a:r>
              <a:rPr lang="fr-FR" sz="1400" b="0" i="0" dirty="0">
                <a:solidFill>
                  <a:srgbClr val="FFFFFF"/>
                </a:solidFill>
                <a:latin typeface="Calibri"/>
              </a:rPr>
              <a:t> / Salghat Issam</a:t>
            </a:r>
          </a:p>
          <a:p>
            <a:pPr algn="l">
              <a:spcBef>
                <a:spcPts val="0"/>
              </a:spcBef>
              <a:spcAft>
                <a:spcPts val="0"/>
              </a:spcAft>
            </a:pPr>
            <a:endParaRPr sz="1400" b="0" i="0" dirty="0">
              <a:solidFill>
                <a:srgbClr val="FFFFFF"/>
              </a:solidFill>
              <a:latin typeface="Calibri"/>
            </a:endParaRPr>
          </a:p>
        </p:txBody>
      </p:sp>
      <p:sp>
        <p:nvSpPr>
          <p:cNvPr id="4" name="Rectangle 3"/>
          <p:cNvSpPr/>
          <p:nvPr/>
        </p:nvSpPr>
        <p:spPr>
          <a:xfrm>
            <a:off x="914400" y="1828800"/>
            <a:ext cx="2011680" cy="73152"/>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Plan de la présentation</a:t>
            </a:r>
          </a:p>
        </p:txBody>
      </p:sp>
      <p:sp>
        <p:nvSpPr>
          <p:cNvPr id="4" name="TextBox 3"/>
          <p:cNvSpPr txBox="1"/>
          <p:nvPr/>
        </p:nvSpPr>
        <p:spPr>
          <a:xfrm>
            <a:off x="1005840" y="1828800"/>
            <a:ext cx="5120640" cy="4114800"/>
          </a:xfrm>
          <a:prstGeom prst="rect">
            <a:avLst/>
          </a:prstGeom>
          <a:noFill/>
        </p:spPr>
        <p:txBody>
          <a:bodyPr wrap="square" lIns="0" tIns="0" rIns="0" bIns="0" anchor="t">
            <a:spAutoFit/>
          </a:bodyPr>
          <a:lstStyle/>
          <a:p>
            <a:pPr>
              <a:spcAft>
                <a:spcPts val="1400"/>
              </a:spcAft>
            </a:pPr>
            <a:r>
              <a:rPr sz="1800" b="1" i="0">
                <a:solidFill>
                  <a:srgbClr val="00A896"/>
                </a:solidFill>
                <a:latin typeface="Calibri"/>
              </a:rPr>
              <a:t>▸  </a:t>
            </a:r>
            <a:r>
              <a:rPr sz="1800" b="0" i="0">
                <a:solidFill>
                  <a:srgbClr val="222831"/>
                </a:solidFill>
                <a:latin typeface="Calibri"/>
              </a:rPr>
              <a:t>1.  Contexte &amp; problématique</a:t>
            </a:r>
          </a:p>
          <a:p>
            <a:pPr>
              <a:spcAft>
                <a:spcPts val="1400"/>
              </a:spcAft>
            </a:pPr>
            <a:r>
              <a:rPr sz="1800" b="1" i="0">
                <a:solidFill>
                  <a:srgbClr val="00A896"/>
                </a:solidFill>
                <a:latin typeface="Calibri"/>
              </a:rPr>
              <a:t>▸  </a:t>
            </a:r>
            <a:r>
              <a:rPr sz="1800" b="0" i="0">
                <a:solidFill>
                  <a:srgbClr val="222831"/>
                </a:solidFill>
                <a:latin typeface="Calibri"/>
              </a:rPr>
              <a:t>2.  Objectifs du projet</a:t>
            </a:r>
          </a:p>
          <a:p>
            <a:pPr>
              <a:spcAft>
                <a:spcPts val="1400"/>
              </a:spcAft>
            </a:pPr>
            <a:r>
              <a:rPr sz="1800" b="1" i="0">
                <a:solidFill>
                  <a:srgbClr val="00A896"/>
                </a:solidFill>
                <a:latin typeface="Calibri"/>
              </a:rPr>
              <a:t>▸  </a:t>
            </a:r>
            <a:r>
              <a:rPr sz="1800" b="0" i="0">
                <a:solidFill>
                  <a:srgbClr val="222831"/>
                </a:solidFill>
                <a:latin typeface="Calibri"/>
              </a:rPr>
              <a:t>3.  Architecture technique</a:t>
            </a:r>
          </a:p>
          <a:p>
            <a:pPr>
              <a:spcAft>
                <a:spcPts val="1400"/>
              </a:spcAft>
            </a:pPr>
            <a:r>
              <a:rPr sz="1800" b="1" i="0">
                <a:solidFill>
                  <a:srgbClr val="00A896"/>
                </a:solidFill>
                <a:latin typeface="Calibri"/>
              </a:rPr>
              <a:t>▸  </a:t>
            </a:r>
            <a:r>
              <a:rPr sz="1800" b="0" i="0">
                <a:solidFill>
                  <a:srgbClr val="222831"/>
                </a:solidFill>
                <a:latin typeface="Calibri"/>
              </a:rPr>
              <a:t>4.  Données &amp; pipeline ETL</a:t>
            </a:r>
          </a:p>
          <a:p>
            <a:pPr>
              <a:spcAft>
                <a:spcPts val="1400"/>
              </a:spcAft>
            </a:pPr>
            <a:r>
              <a:rPr sz="1800" b="1" i="0">
                <a:solidFill>
                  <a:srgbClr val="00A896"/>
                </a:solidFill>
                <a:latin typeface="Calibri"/>
              </a:rPr>
              <a:t>▸  </a:t>
            </a:r>
            <a:r>
              <a:rPr sz="1800" b="0" i="0">
                <a:solidFill>
                  <a:srgbClr val="222831"/>
                </a:solidFill>
                <a:latin typeface="Calibri"/>
              </a:rPr>
              <a:t>5.  Modèle prédictif</a:t>
            </a:r>
          </a:p>
        </p:txBody>
      </p:sp>
      <p:sp>
        <p:nvSpPr>
          <p:cNvPr id="5" name="TextBox 4"/>
          <p:cNvSpPr txBox="1"/>
          <p:nvPr/>
        </p:nvSpPr>
        <p:spPr>
          <a:xfrm>
            <a:off x="6400800" y="1828800"/>
            <a:ext cx="5120640" cy="4114800"/>
          </a:xfrm>
          <a:prstGeom prst="rect">
            <a:avLst/>
          </a:prstGeom>
          <a:noFill/>
        </p:spPr>
        <p:txBody>
          <a:bodyPr wrap="square" lIns="0" tIns="0" rIns="0" bIns="0" anchor="t">
            <a:spAutoFit/>
          </a:bodyPr>
          <a:lstStyle/>
          <a:p>
            <a:pPr>
              <a:spcAft>
                <a:spcPts val="1400"/>
              </a:spcAft>
            </a:pPr>
            <a:r>
              <a:rPr sz="1800" b="1" i="0">
                <a:solidFill>
                  <a:srgbClr val="00A896"/>
                </a:solidFill>
                <a:latin typeface="Calibri"/>
              </a:rPr>
              <a:t>▸  </a:t>
            </a:r>
            <a:r>
              <a:rPr sz="1800" b="0" i="0">
                <a:solidFill>
                  <a:srgbClr val="222831"/>
                </a:solidFill>
                <a:latin typeface="Calibri"/>
              </a:rPr>
              <a:t>6.  Démonstration du dashboard</a:t>
            </a:r>
          </a:p>
          <a:p>
            <a:pPr>
              <a:spcAft>
                <a:spcPts val="1400"/>
              </a:spcAft>
            </a:pPr>
            <a:r>
              <a:rPr sz="1800" b="1" i="0">
                <a:solidFill>
                  <a:srgbClr val="00A896"/>
                </a:solidFill>
                <a:latin typeface="Calibri"/>
              </a:rPr>
              <a:t>▸  </a:t>
            </a:r>
            <a:r>
              <a:rPr sz="1800" b="0" i="0">
                <a:solidFill>
                  <a:srgbClr val="222831"/>
                </a:solidFill>
                <a:latin typeface="Calibri"/>
              </a:rPr>
              <a:t>7.  Résultats &amp; métriques</a:t>
            </a:r>
          </a:p>
          <a:p>
            <a:pPr>
              <a:spcAft>
                <a:spcPts val="1400"/>
              </a:spcAft>
            </a:pPr>
            <a:r>
              <a:rPr sz="1800" b="1" i="0">
                <a:solidFill>
                  <a:srgbClr val="00A896"/>
                </a:solidFill>
                <a:latin typeface="Calibri"/>
              </a:rPr>
              <a:t>▸  </a:t>
            </a:r>
            <a:r>
              <a:rPr sz="1800" b="0" i="0">
                <a:solidFill>
                  <a:srgbClr val="222831"/>
                </a:solidFill>
                <a:latin typeface="Calibri"/>
              </a:rPr>
              <a:t>8.  Green IT &amp; qualité logicielle</a:t>
            </a:r>
          </a:p>
          <a:p>
            <a:pPr>
              <a:spcAft>
                <a:spcPts val="1400"/>
              </a:spcAft>
            </a:pPr>
            <a:r>
              <a:rPr sz="1800" b="1" i="0">
                <a:solidFill>
                  <a:srgbClr val="00A896"/>
                </a:solidFill>
                <a:latin typeface="Calibri"/>
              </a:rPr>
              <a:t>▸  </a:t>
            </a:r>
            <a:r>
              <a:rPr sz="1800" b="0" i="0">
                <a:solidFill>
                  <a:srgbClr val="222831"/>
                </a:solidFill>
                <a:latin typeface="Calibri"/>
              </a:rPr>
              <a:t>9.  Limites &amp; perspectives</a:t>
            </a:r>
          </a:p>
          <a:p>
            <a:pPr>
              <a:spcAft>
                <a:spcPts val="1400"/>
              </a:spcAft>
            </a:pPr>
            <a:r>
              <a:rPr sz="1800" b="1" i="0">
                <a:solidFill>
                  <a:srgbClr val="00A896"/>
                </a:solidFill>
                <a:latin typeface="Calibri"/>
              </a:rPr>
              <a:t>▸  </a:t>
            </a:r>
            <a:r>
              <a:rPr sz="1800" b="0" i="0">
                <a:solidFill>
                  <a:srgbClr val="222831"/>
                </a:solidFill>
                <a:latin typeface="Calibri"/>
              </a:rPr>
              <a:t>10.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Contexte &amp; problématique</a:t>
            </a:r>
          </a:p>
        </p:txBody>
      </p:sp>
      <p:sp>
        <p:nvSpPr>
          <p:cNvPr id="4" name="TextBox 3"/>
          <p:cNvSpPr txBox="1"/>
          <p:nvPr/>
        </p:nvSpPr>
        <p:spPr>
          <a:xfrm>
            <a:off x="1005840" y="1737360"/>
            <a:ext cx="6583680" cy="4206240"/>
          </a:xfrm>
          <a:prstGeom prst="rect">
            <a:avLst/>
          </a:prstGeom>
          <a:noFill/>
        </p:spPr>
        <p:txBody>
          <a:bodyPr wrap="square" lIns="0" tIns="0" rIns="0" bIns="0" anchor="t">
            <a:spAutoFit/>
          </a:bodyPr>
          <a:lstStyle/>
          <a:p>
            <a:pPr>
              <a:spcAft>
                <a:spcPts val="1600"/>
              </a:spcAft>
            </a:pPr>
            <a:r>
              <a:rPr sz="1700" b="1" i="0">
                <a:solidFill>
                  <a:srgbClr val="00A896"/>
                </a:solidFill>
                <a:latin typeface="Calibri"/>
              </a:rPr>
              <a:t>▸  </a:t>
            </a:r>
            <a:r>
              <a:rPr sz="1700" b="0" i="0">
                <a:solidFill>
                  <a:srgbClr val="222831"/>
                </a:solidFill>
                <a:latin typeface="Calibri"/>
              </a:rPr>
              <a:t>Les métropoles subissent une </a:t>
            </a:r>
            <a:r>
              <a:rPr sz="1700" b="1" i="0">
                <a:solidFill>
                  <a:srgbClr val="222831"/>
                </a:solidFill>
                <a:latin typeface="Calibri"/>
              </a:rPr>
              <a:t>congestion chronique</a:t>
            </a:r>
            <a:r>
              <a:rPr sz="1700" b="0" i="0">
                <a:solidFill>
                  <a:srgbClr val="222831"/>
                </a:solidFill>
                <a:latin typeface="Calibri"/>
              </a:rPr>
              <a:t> : embouteillages, retards, pollution.</a:t>
            </a:r>
          </a:p>
          <a:p>
            <a:pPr>
              <a:spcAft>
                <a:spcPts val="1600"/>
              </a:spcAft>
            </a:pPr>
            <a:r>
              <a:rPr sz="1700" b="1" i="0">
                <a:solidFill>
                  <a:srgbClr val="00A896"/>
                </a:solidFill>
                <a:latin typeface="Calibri"/>
              </a:rPr>
              <a:t>▸  </a:t>
            </a:r>
            <a:r>
              <a:rPr sz="1700" b="0" i="0">
                <a:solidFill>
                  <a:srgbClr val="222831"/>
                </a:solidFill>
                <a:latin typeface="Calibri"/>
              </a:rPr>
              <a:t>Les </a:t>
            </a:r>
            <a:r>
              <a:rPr sz="1700" b="1" i="0">
                <a:solidFill>
                  <a:srgbClr val="222831"/>
                </a:solidFill>
                <a:latin typeface="Calibri"/>
              </a:rPr>
              <a:t>données ouvertes</a:t>
            </a:r>
            <a:r>
              <a:rPr sz="1700" b="0" i="0">
                <a:solidFill>
                  <a:srgbClr val="222831"/>
                </a:solidFill>
                <a:latin typeface="Calibri"/>
              </a:rPr>
              <a:t> (open data) et le Big Data offrent de nouvelles possibilités d'analyse.</a:t>
            </a:r>
          </a:p>
          <a:p>
            <a:pPr>
              <a:spcAft>
                <a:spcPts val="1600"/>
              </a:spcAft>
            </a:pPr>
            <a:r>
              <a:rPr sz="1700" b="1" i="0">
                <a:solidFill>
                  <a:srgbClr val="00A896"/>
                </a:solidFill>
                <a:latin typeface="Calibri"/>
              </a:rPr>
              <a:t>▸  </a:t>
            </a:r>
            <a:r>
              <a:rPr sz="1700" b="0" i="0">
                <a:solidFill>
                  <a:srgbClr val="222831"/>
                </a:solidFill>
                <a:latin typeface="Calibri"/>
              </a:rPr>
              <a:t>Mais les sources sont </a:t>
            </a:r>
            <a:r>
              <a:rPr sz="1700" b="1" i="0">
                <a:solidFill>
                  <a:srgbClr val="222831"/>
                </a:solidFill>
                <a:latin typeface="Calibri"/>
              </a:rPr>
              <a:t>hétérogènes</a:t>
            </a:r>
            <a:r>
              <a:rPr sz="1700" b="0" i="0">
                <a:solidFill>
                  <a:srgbClr val="222831"/>
                </a:solidFill>
                <a:latin typeface="Calibri"/>
              </a:rPr>
              <a:t> (CSV, JSON, API) et difficiles à exploiter ensemble.</a:t>
            </a:r>
          </a:p>
        </p:txBody>
      </p:sp>
      <p:sp>
        <p:nvSpPr>
          <p:cNvPr id="5" name="Rounded Rectangle 4"/>
          <p:cNvSpPr/>
          <p:nvPr/>
        </p:nvSpPr>
        <p:spPr>
          <a:xfrm>
            <a:off x="7863840" y="1737360"/>
            <a:ext cx="3657600" cy="292608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Problématique</a:t>
            </a:r>
          </a:p>
          <a:p>
            <a:pPr algn="l">
              <a:spcBef>
                <a:spcPts val="0"/>
              </a:spcBef>
              <a:spcAft>
                <a:spcPts val="200"/>
              </a:spcAft>
            </a:pPr>
            <a:r>
              <a:rPr sz="1150" b="0" i="0">
                <a:solidFill>
                  <a:srgbClr val="222831"/>
                </a:solidFill>
                <a:latin typeface="Calibri"/>
              </a:rPr>
              <a:t>Comment exploiter des données</a:t>
            </a:r>
          </a:p>
          <a:p>
            <a:pPr algn="l">
              <a:spcBef>
                <a:spcPts val="0"/>
              </a:spcBef>
              <a:spcAft>
                <a:spcPts val="200"/>
              </a:spcAft>
            </a:pPr>
            <a:r>
              <a:rPr sz="1150" b="0" i="0">
                <a:solidFill>
                  <a:srgbClr val="222831"/>
                </a:solidFill>
                <a:latin typeface="Calibri"/>
              </a:rPr>
              <a:t>ouvertes hétérogènes pour :</a:t>
            </a:r>
          </a:p>
          <a:p>
            <a:pPr algn="l">
              <a:spcBef>
                <a:spcPts val="0"/>
              </a:spcBef>
              <a:spcAft>
                <a:spcPts val="200"/>
              </a:spcAft>
            </a:pPr>
            <a:r>
              <a:rPr sz="1150" b="0" i="0">
                <a:solidFill>
                  <a:srgbClr val="222831"/>
                </a:solidFill>
                <a:latin typeface="Calibri"/>
              </a:rPr>
              <a:t>• anticiper la congestion,</a:t>
            </a:r>
          </a:p>
          <a:p>
            <a:pPr algn="l">
              <a:spcBef>
                <a:spcPts val="0"/>
              </a:spcBef>
              <a:spcAft>
                <a:spcPts val="200"/>
              </a:spcAft>
            </a:pPr>
            <a:r>
              <a:rPr sz="1150" b="0" i="0">
                <a:solidFill>
                  <a:srgbClr val="222831"/>
                </a:solidFill>
                <a:latin typeface="Calibri"/>
              </a:rPr>
              <a:t>• optimiser les itinéraires,</a:t>
            </a:r>
          </a:p>
          <a:p>
            <a:pPr algn="l">
              <a:spcBef>
                <a:spcPts val="0"/>
              </a:spcBef>
              <a:spcAft>
                <a:spcPts val="200"/>
              </a:spcAft>
            </a:pPr>
            <a:r>
              <a:rPr sz="1150" b="0" i="0">
                <a:solidFill>
                  <a:srgbClr val="222831"/>
                </a:solidFill>
                <a:latin typeface="Calibri"/>
              </a:rPr>
              <a:t>• réduire l'impact écologique,</a:t>
            </a:r>
          </a:p>
          <a:p>
            <a:pPr algn="l">
              <a:spcBef>
                <a:spcPts val="0"/>
              </a:spcBef>
              <a:spcAft>
                <a:spcPts val="200"/>
              </a:spcAft>
            </a:pPr>
            <a:r>
              <a:rPr sz="1150" b="0" i="0">
                <a:solidFill>
                  <a:srgbClr val="222831"/>
                </a:solidFill>
                <a:latin typeface="Calibri"/>
              </a:rPr>
              <a:t>• informer les citoyens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Objectifs du projet</a:t>
            </a:r>
          </a:p>
        </p:txBody>
      </p:sp>
      <p:sp>
        <p:nvSpPr>
          <p:cNvPr id="4" name="Rounded Rectangle 3"/>
          <p:cNvSpPr/>
          <p:nvPr/>
        </p:nvSpPr>
        <p:spPr>
          <a:xfrm>
            <a:off x="822960" y="1828800"/>
            <a:ext cx="3520440" cy="14173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Anticiper</a:t>
            </a:r>
          </a:p>
          <a:p>
            <a:pPr algn="l">
              <a:spcBef>
                <a:spcPts val="0"/>
              </a:spcBef>
              <a:spcAft>
                <a:spcPts val="200"/>
              </a:spcAft>
            </a:pPr>
            <a:r>
              <a:rPr sz="1150" b="0" i="0">
                <a:solidFill>
                  <a:srgbClr val="222831"/>
                </a:solidFill>
                <a:latin typeface="Calibri"/>
              </a:rPr>
              <a:t>Prévoir la congestion avec un modèle hybride ARIMA + IA.</a:t>
            </a:r>
          </a:p>
        </p:txBody>
      </p:sp>
      <p:sp>
        <p:nvSpPr>
          <p:cNvPr id="5" name="Rounded Rectangle 4"/>
          <p:cNvSpPr/>
          <p:nvPr/>
        </p:nvSpPr>
        <p:spPr>
          <a:xfrm>
            <a:off x="4572000" y="1828800"/>
            <a:ext cx="3520440" cy="14173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Optimiser</a:t>
            </a:r>
          </a:p>
          <a:p>
            <a:pPr algn="l">
              <a:spcBef>
                <a:spcPts val="0"/>
              </a:spcBef>
              <a:spcAft>
                <a:spcPts val="200"/>
              </a:spcAft>
            </a:pPr>
            <a:r>
              <a:rPr sz="1150" b="0" i="0">
                <a:solidFill>
                  <a:srgbClr val="222831"/>
                </a:solidFill>
                <a:latin typeface="Calibri"/>
              </a:rPr>
              <a:t>Proposer des itinéraires tenant compte des perturbations prédites.</a:t>
            </a:r>
          </a:p>
        </p:txBody>
      </p:sp>
      <p:sp>
        <p:nvSpPr>
          <p:cNvPr id="6" name="Rounded Rectangle 5"/>
          <p:cNvSpPr/>
          <p:nvPr/>
        </p:nvSpPr>
        <p:spPr>
          <a:xfrm>
            <a:off x="8321040" y="1828800"/>
            <a:ext cx="3520440" cy="14173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Verdir</a:t>
            </a:r>
          </a:p>
          <a:p>
            <a:pPr algn="l">
              <a:spcBef>
                <a:spcPts val="0"/>
              </a:spcBef>
              <a:spcAft>
                <a:spcPts val="200"/>
              </a:spcAft>
            </a:pPr>
            <a:r>
              <a:rPr sz="1150" b="0" i="0">
                <a:solidFill>
                  <a:srgbClr val="222831"/>
                </a:solidFill>
                <a:latin typeface="Calibri"/>
              </a:rPr>
              <a:t>Recommandations écologiques et indicateurs de pollution.</a:t>
            </a:r>
          </a:p>
        </p:txBody>
      </p:sp>
      <p:sp>
        <p:nvSpPr>
          <p:cNvPr id="7" name="Rounded Rectangle 6"/>
          <p:cNvSpPr/>
          <p:nvPr/>
        </p:nvSpPr>
        <p:spPr>
          <a:xfrm>
            <a:off x="822960" y="3520440"/>
            <a:ext cx="3520440" cy="14173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Impliquer</a:t>
            </a:r>
          </a:p>
          <a:p>
            <a:pPr algn="l">
              <a:spcBef>
                <a:spcPts val="0"/>
              </a:spcBef>
              <a:spcAft>
                <a:spcPts val="200"/>
              </a:spcAft>
            </a:pPr>
            <a:r>
              <a:rPr sz="1150" b="0" i="0">
                <a:solidFill>
                  <a:srgbClr val="222831"/>
                </a:solidFill>
                <a:latin typeface="Calibri"/>
              </a:rPr>
              <a:t>Signalements citoyens (crowdsourcing) intégrés.</a:t>
            </a:r>
          </a:p>
        </p:txBody>
      </p:sp>
      <p:sp>
        <p:nvSpPr>
          <p:cNvPr id="8" name="Rounded Rectangle 7"/>
          <p:cNvSpPr/>
          <p:nvPr/>
        </p:nvSpPr>
        <p:spPr>
          <a:xfrm>
            <a:off x="4572000" y="3520440"/>
            <a:ext cx="3520440" cy="14173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Piloter</a:t>
            </a:r>
          </a:p>
          <a:p>
            <a:pPr algn="l">
              <a:spcBef>
                <a:spcPts val="0"/>
              </a:spcBef>
              <a:spcAft>
                <a:spcPts val="200"/>
              </a:spcAft>
            </a:pPr>
            <a:r>
              <a:rPr sz="1150" b="0" i="0">
                <a:solidFill>
                  <a:srgbClr val="222831"/>
                </a:solidFill>
                <a:latin typeface="Calibri"/>
              </a:rPr>
              <a:t>Outils gestionnaire : carte thermique et simulation.</a:t>
            </a:r>
          </a:p>
        </p:txBody>
      </p:sp>
      <p:sp>
        <p:nvSpPr>
          <p:cNvPr id="9" name="Rounded Rectangle 8"/>
          <p:cNvSpPr/>
          <p:nvPr/>
        </p:nvSpPr>
        <p:spPr>
          <a:xfrm>
            <a:off x="8321040" y="3520440"/>
            <a:ext cx="3520440" cy="14173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Industrialiser</a:t>
            </a:r>
          </a:p>
          <a:p>
            <a:pPr algn="l">
              <a:spcBef>
                <a:spcPts val="0"/>
              </a:spcBef>
              <a:spcAft>
                <a:spcPts val="200"/>
              </a:spcAft>
            </a:pPr>
            <a:r>
              <a:rPr sz="1150" b="0" i="0">
                <a:solidFill>
                  <a:srgbClr val="222831"/>
                </a:solidFill>
                <a:latin typeface="Calibri"/>
              </a:rPr>
              <a:t>Docker, tests automatisés, CI/CD, monitoring.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Architecture technique (microservices Docker)</a:t>
            </a:r>
          </a:p>
        </p:txBody>
      </p:sp>
      <p:sp>
        <p:nvSpPr>
          <p:cNvPr id="4" name="Rounded Rectangle 3"/>
          <p:cNvSpPr/>
          <p:nvPr/>
        </p:nvSpPr>
        <p:spPr>
          <a:xfrm>
            <a:off x="685800" y="2743200"/>
            <a:ext cx="2606040" cy="155448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Pipeline ETL</a:t>
            </a:r>
          </a:p>
          <a:p>
            <a:pPr algn="l">
              <a:spcBef>
                <a:spcPts val="0"/>
              </a:spcBef>
              <a:spcAft>
                <a:spcPts val="200"/>
              </a:spcAft>
            </a:pPr>
            <a:r>
              <a:rPr sz="1150" b="0" i="0">
                <a:solidFill>
                  <a:srgbClr val="222831"/>
                </a:solidFill>
                <a:latin typeface="Calibri"/>
              </a:rPr>
              <a:t>Python · SQLAlchemy</a:t>
            </a:r>
          </a:p>
          <a:p>
            <a:pPr algn="l">
              <a:spcBef>
                <a:spcPts val="0"/>
              </a:spcBef>
              <a:spcAft>
                <a:spcPts val="200"/>
              </a:spcAft>
            </a:pPr>
            <a:endParaRPr sz="1150" b="0" i="0">
              <a:solidFill>
                <a:srgbClr val="222831"/>
              </a:solidFill>
              <a:latin typeface="Calibri"/>
            </a:endParaRPr>
          </a:p>
          <a:p>
            <a:pPr algn="l">
              <a:spcBef>
                <a:spcPts val="0"/>
              </a:spcBef>
              <a:spcAft>
                <a:spcPts val="200"/>
              </a:spcAft>
            </a:pPr>
            <a:r>
              <a:rPr sz="1150" b="0" i="0">
                <a:solidFill>
                  <a:srgbClr val="222831"/>
                </a:solidFill>
                <a:latin typeface="Calibri"/>
              </a:rPr>
              <a:t>Collecte, qualité, chargement</a:t>
            </a:r>
          </a:p>
        </p:txBody>
      </p:sp>
      <p:sp>
        <p:nvSpPr>
          <p:cNvPr id="5" name="Right Arrow 4"/>
          <p:cNvSpPr/>
          <p:nvPr/>
        </p:nvSpPr>
        <p:spPr>
          <a:xfrm>
            <a:off x="3300984" y="3355848"/>
            <a:ext cx="210312" cy="329184"/>
          </a:xfrm>
          <a:prstGeom prst="rightArrow">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520440" y="2743200"/>
            <a:ext cx="2606040" cy="155448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Base de données</a:t>
            </a:r>
          </a:p>
          <a:p>
            <a:pPr algn="l">
              <a:spcBef>
                <a:spcPts val="0"/>
              </a:spcBef>
              <a:spcAft>
                <a:spcPts val="200"/>
              </a:spcAft>
            </a:pPr>
            <a:r>
              <a:rPr sz="1150" b="0" i="0">
                <a:solidFill>
                  <a:srgbClr val="222831"/>
                </a:solidFill>
                <a:latin typeface="Calibri"/>
              </a:rPr>
              <a:t>PostgreSQL + PostGIS</a:t>
            </a:r>
          </a:p>
          <a:p>
            <a:pPr algn="l">
              <a:spcBef>
                <a:spcPts val="0"/>
              </a:spcBef>
              <a:spcAft>
                <a:spcPts val="200"/>
              </a:spcAft>
            </a:pPr>
            <a:endParaRPr sz="1150" b="0" i="0">
              <a:solidFill>
                <a:srgbClr val="222831"/>
              </a:solidFill>
              <a:latin typeface="Calibri"/>
            </a:endParaRPr>
          </a:p>
          <a:p>
            <a:pPr algn="l">
              <a:spcBef>
                <a:spcPts val="0"/>
              </a:spcBef>
              <a:spcAft>
                <a:spcPts val="200"/>
              </a:spcAft>
            </a:pPr>
            <a:r>
              <a:rPr sz="1150" b="0" i="0">
                <a:solidFill>
                  <a:srgbClr val="222831"/>
                </a:solidFill>
                <a:latin typeface="Calibri"/>
              </a:rPr>
              <a:t>Trafic, env., signalements</a:t>
            </a:r>
          </a:p>
        </p:txBody>
      </p:sp>
      <p:sp>
        <p:nvSpPr>
          <p:cNvPr id="7" name="Right Arrow 6"/>
          <p:cNvSpPr/>
          <p:nvPr/>
        </p:nvSpPr>
        <p:spPr>
          <a:xfrm>
            <a:off x="6135624" y="3355848"/>
            <a:ext cx="210312" cy="329184"/>
          </a:xfrm>
          <a:prstGeom prst="rightArrow">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55080" y="2743200"/>
            <a:ext cx="2606040" cy="155448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API REST</a:t>
            </a:r>
          </a:p>
          <a:p>
            <a:pPr algn="l">
              <a:spcBef>
                <a:spcPts val="0"/>
              </a:spcBef>
              <a:spcAft>
                <a:spcPts val="200"/>
              </a:spcAft>
            </a:pPr>
            <a:r>
              <a:rPr sz="1150" b="0" i="0">
                <a:solidFill>
                  <a:srgbClr val="222831"/>
                </a:solidFill>
                <a:latin typeface="Calibri"/>
              </a:rPr>
              <a:t>Flask · Gunicorn</a:t>
            </a:r>
          </a:p>
          <a:p>
            <a:pPr algn="l">
              <a:spcBef>
                <a:spcPts val="0"/>
              </a:spcBef>
              <a:spcAft>
                <a:spcPts val="200"/>
              </a:spcAft>
            </a:pPr>
            <a:endParaRPr sz="1150" b="0" i="0">
              <a:solidFill>
                <a:srgbClr val="222831"/>
              </a:solidFill>
              <a:latin typeface="Calibri"/>
            </a:endParaRPr>
          </a:p>
          <a:p>
            <a:pPr algn="l">
              <a:spcBef>
                <a:spcPts val="0"/>
              </a:spcBef>
              <a:spcAft>
                <a:spcPts val="200"/>
              </a:spcAft>
            </a:pPr>
            <a:r>
              <a:rPr sz="1150" b="0" i="0">
                <a:solidFill>
                  <a:srgbClr val="222831"/>
                </a:solidFill>
                <a:latin typeface="Calibri"/>
              </a:rPr>
              <a:t>Prédictions, itinéraires, métriques</a:t>
            </a:r>
          </a:p>
        </p:txBody>
      </p:sp>
      <p:sp>
        <p:nvSpPr>
          <p:cNvPr id="9" name="Right Arrow 8"/>
          <p:cNvSpPr/>
          <p:nvPr/>
        </p:nvSpPr>
        <p:spPr>
          <a:xfrm>
            <a:off x="8970264" y="3355848"/>
            <a:ext cx="210312" cy="329184"/>
          </a:xfrm>
          <a:prstGeom prst="rightArrow">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189720" y="2743200"/>
            <a:ext cx="2606040" cy="155448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Dashboard</a:t>
            </a:r>
          </a:p>
          <a:p>
            <a:pPr algn="l">
              <a:spcBef>
                <a:spcPts val="0"/>
              </a:spcBef>
              <a:spcAft>
                <a:spcPts val="200"/>
              </a:spcAft>
            </a:pPr>
            <a:r>
              <a:rPr sz="1150" b="0" i="0">
                <a:solidFill>
                  <a:srgbClr val="222831"/>
                </a:solidFill>
                <a:latin typeface="Calibri"/>
              </a:rPr>
              <a:t>Streamlit · Plotly</a:t>
            </a:r>
          </a:p>
          <a:p>
            <a:pPr algn="l">
              <a:spcBef>
                <a:spcPts val="0"/>
              </a:spcBef>
              <a:spcAft>
                <a:spcPts val="200"/>
              </a:spcAft>
            </a:pPr>
            <a:endParaRPr sz="1150" b="0" i="0">
              <a:solidFill>
                <a:srgbClr val="222831"/>
              </a:solidFill>
              <a:latin typeface="Calibri"/>
            </a:endParaRPr>
          </a:p>
          <a:p>
            <a:pPr algn="l">
              <a:spcBef>
                <a:spcPts val="0"/>
              </a:spcBef>
              <a:spcAft>
                <a:spcPts val="200"/>
              </a:spcAft>
            </a:pPr>
            <a:r>
              <a:rPr sz="1150" b="0" i="0">
                <a:solidFill>
                  <a:srgbClr val="222831"/>
                </a:solidFill>
                <a:latin typeface="Calibri"/>
              </a:rPr>
              <a:t>7 onglets interactifs</a:t>
            </a:r>
          </a:p>
        </p:txBody>
      </p:sp>
      <p:sp>
        <p:nvSpPr>
          <p:cNvPr id="11" name="TextBox 10"/>
          <p:cNvSpPr txBox="1"/>
          <p:nvPr/>
        </p:nvSpPr>
        <p:spPr>
          <a:xfrm>
            <a:off x="822960" y="4937760"/>
            <a:ext cx="10515600" cy="914400"/>
          </a:xfrm>
          <a:prstGeom prst="rect">
            <a:avLst/>
          </a:prstGeom>
          <a:noFill/>
        </p:spPr>
        <p:txBody>
          <a:bodyPr wrap="square" lIns="0" tIns="0" rIns="0" bIns="0" anchor="t">
            <a:spAutoFit/>
          </a:bodyPr>
          <a:lstStyle/>
          <a:p>
            <a:pPr algn="l">
              <a:spcBef>
                <a:spcPts val="0"/>
              </a:spcBef>
              <a:spcAft>
                <a:spcPts val="600"/>
              </a:spcAft>
            </a:pPr>
            <a:r>
              <a:rPr sz="1400" b="0" i="1">
                <a:solidFill>
                  <a:srgbClr val="6B7280"/>
                </a:solidFill>
                <a:latin typeface="Calibri"/>
              </a:rPr>
              <a:t>Flux de données : ETL → Base → API → Dashboard. Chaque service est containerisé et déployé avec une seule commande (docker compose 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Données ouvertes &amp; pipeline ETL</a:t>
            </a:r>
          </a:p>
        </p:txBody>
      </p:sp>
      <p:sp>
        <p:nvSpPr>
          <p:cNvPr id="4" name="TextBox 3"/>
          <p:cNvSpPr txBox="1"/>
          <p:nvPr/>
        </p:nvSpPr>
        <p:spPr>
          <a:xfrm>
            <a:off x="1005840" y="1737360"/>
            <a:ext cx="6583680" cy="2377440"/>
          </a:xfrm>
          <a:prstGeom prst="rect">
            <a:avLst/>
          </a:prstGeom>
          <a:noFill/>
        </p:spPr>
        <p:txBody>
          <a:bodyPr wrap="square" lIns="0" tIns="0" rIns="0" bIns="0" anchor="t">
            <a:spAutoFit/>
          </a:bodyPr>
          <a:lstStyle/>
          <a:p>
            <a:pPr>
              <a:spcAft>
                <a:spcPts val="1200"/>
              </a:spcAft>
            </a:pPr>
            <a:r>
              <a:rPr sz="1600" b="1" i="0">
                <a:solidFill>
                  <a:srgbClr val="00A896"/>
                </a:solidFill>
                <a:latin typeface="Calibri"/>
              </a:rPr>
              <a:t>▸  </a:t>
            </a:r>
            <a:r>
              <a:rPr sz="1600" b="1" i="0">
                <a:solidFill>
                  <a:srgbClr val="222831"/>
                </a:solidFill>
                <a:latin typeface="Calibri"/>
              </a:rPr>
              <a:t>3 catégories</a:t>
            </a:r>
            <a:r>
              <a:rPr sz="1600" b="0" i="0">
                <a:solidFill>
                  <a:srgbClr val="222831"/>
                </a:solidFill>
                <a:latin typeface="Calibri"/>
              </a:rPr>
              <a:t> de données ouvertes (exigence du cahier des charges).</a:t>
            </a:r>
          </a:p>
          <a:p>
            <a:pPr>
              <a:spcAft>
                <a:spcPts val="1200"/>
              </a:spcAft>
            </a:pPr>
            <a:r>
              <a:rPr sz="1600" b="1" i="0">
                <a:solidFill>
                  <a:srgbClr val="00A896"/>
                </a:solidFill>
                <a:latin typeface="Calibri"/>
              </a:rPr>
              <a:t>▸  </a:t>
            </a:r>
            <a:r>
              <a:rPr sz="1600" b="0" i="0">
                <a:solidFill>
                  <a:srgbClr val="222831"/>
                </a:solidFill>
                <a:latin typeface="Calibri"/>
              </a:rPr>
              <a:t>Trafic : </a:t>
            </a:r>
            <a:r>
              <a:rPr sz="1600" b="1" i="0">
                <a:solidFill>
                  <a:srgbClr val="222831"/>
                </a:solidFill>
                <a:latin typeface="Calibri"/>
              </a:rPr>
              <a:t>OpenDataSoft</a:t>
            </a:r>
            <a:r>
              <a:rPr sz="1600" b="0" i="0">
                <a:solidFill>
                  <a:srgbClr val="222831"/>
                </a:solidFill>
                <a:latin typeface="Calibri"/>
              </a:rPr>
              <a:t> · Météo &amp; qualité de l'air : </a:t>
            </a:r>
            <a:r>
              <a:rPr sz="1600" b="1" i="0">
                <a:solidFill>
                  <a:srgbClr val="222831"/>
                </a:solidFill>
                <a:latin typeface="Calibri"/>
              </a:rPr>
              <a:t>Open-Meteo</a:t>
            </a:r>
            <a:r>
              <a:rPr sz="1600" b="0" i="0">
                <a:solidFill>
                  <a:srgbClr val="222831"/>
                </a:solidFill>
                <a:latin typeface="Calibri"/>
              </a:rPr>
              <a:t> · Crowdsourcing citoyen.</a:t>
            </a:r>
          </a:p>
          <a:p>
            <a:pPr>
              <a:spcAft>
                <a:spcPts val="1200"/>
              </a:spcAft>
            </a:pPr>
            <a:r>
              <a:rPr sz="1600" b="1" i="0">
                <a:solidFill>
                  <a:srgbClr val="00A896"/>
                </a:solidFill>
                <a:latin typeface="Calibri"/>
              </a:rPr>
              <a:t>▸  </a:t>
            </a:r>
            <a:r>
              <a:rPr sz="1600" b="1" i="0">
                <a:solidFill>
                  <a:srgbClr val="222831"/>
                </a:solidFill>
                <a:latin typeface="Calibri"/>
              </a:rPr>
              <a:t>3 modes</a:t>
            </a:r>
            <a:r>
              <a:rPr sz="1600" b="0" i="0">
                <a:solidFill>
                  <a:srgbClr val="222831"/>
                </a:solidFill>
                <a:latin typeface="Calibri"/>
              </a:rPr>
              <a:t> ETL : sample (offline), open-meteo (réel), ods (trafic réel).</a:t>
            </a:r>
          </a:p>
        </p:txBody>
      </p:sp>
      <p:sp>
        <p:nvSpPr>
          <p:cNvPr id="5" name="Rounded Rectangle 4"/>
          <p:cNvSpPr/>
          <p:nvPr/>
        </p:nvSpPr>
        <p:spPr>
          <a:xfrm>
            <a:off x="1005840" y="4297680"/>
            <a:ext cx="6583680" cy="16459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Couche qualité des données</a:t>
            </a:r>
          </a:p>
          <a:p>
            <a:pPr algn="l">
              <a:spcBef>
                <a:spcPts val="0"/>
              </a:spcBef>
              <a:spcAft>
                <a:spcPts val="200"/>
              </a:spcAft>
            </a:pPr>
            <a:r>
              <a:rPr sz="1150" b="0" i="0">
                <a:solidFill>
                  <a:srgbClr val="222831"/>
                </a:solidFill>
                <a:latin typeface="Calibri"/>
              </a:rPr>
              <a:t>Déduplication · contrôle de plages · valeurs manquantes · journalisation.</a:t>
            </a:r>
          </a:p>
          <a:p>
            <a:pPr algn="l">
              <a:spcBef>
                <a:spcPts val="0"/>
              </a:spcBef>
              <a:spcAft>
                <a:spcPts val="200"/>
              </a:spcAft>
            </a:pPr>
            <a:r>
              <a:rPr sz="1150" b="0" i="0">
                <a:solidFill>
                  <a:srgbClr val="222831"/>
                </a:solidFill>
                <a:latin typeface="Calibri"/>
              </a:rPr>
              <a:t>Chargement idempotent (UPSERT) + historisation des exécutions (table etl_runs).</a:t>
            </a:r>
          </a:p>
        </p:txBody>
      </p:sp>
      <p:pic>
        <p:nvPicPr>
          <p:cNvPr id="6" name="Picture 5" descr="r_etl.png"/>
          <p:cNvPicPr>
            <a:picLocks noChangeAspect="1"/>
          </p:cNvPicPr>
          <p:nvPr/>
        </p:nvPicPr>
        <p:blipFill>
          <a:blip r:embed="rId3"/>
          <a:stretch>
            <a:fillRect/>
          </a:stretch>
        </p:blipFill>
        <p:spPr>
          <a:xfrm>
            <a:off x="7863840" y="1828800"/>
            <a:ext cx="3840480" cy="2743200"/>
          </a:xfrm>
          <a:prstGeom prst="rect">
            <a:avLst/>
          </a:prstGeom>
        </p:spPr>
      </p:pic>
      <p:sp>
        <p:nvSpPr>
          <p:cNvPr id="7" name="TextBox 6"/>
          <p:cNvSpPr txBox="1"/>
          <p:nvPr/>
        </p:nvSpPr>
        <p:spPr>
          <a:xfrm>
            <a:off x="7863840" y="4572000"/>
            <a:ext cx="38404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Historique des exécutions ETL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Modèle prédictif hybride ARIMA + MLP</a:t>
            </a:r>
          </a:p>
        </p:txBody>
      </p:sp>
      <p:sp>
        <p:nvSpPr>
          <p:cNvPr id="4" name="Rounded Rectangle 3"/>
          <p:cNvSpPr/>
          <p:nvPr/>
        </p:nvSpPr>
        <p:spPr>
          <a:xfrm>
            <a:off x="822960" y="1920240"/>
            <a:ext cx="3200400" cy="137160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1 · ARIMA(2,0,2)</a:t>
            </a:r>
          </a:p>
          <a:p>
            <a:pPr algn="l">
              <a:spcBef>
                <a:spcPts val="0"/>
              </a:spcBef>
              <a:spcAft>
                <a:spcPts val="200"/>
              </a:spcAft>
            </a:pPr>
            <a:r>
              <a:rPr sz="1150" b="0" i="0">
                <a:solidFill>
                  <a:srgbClr val="222831"/>
                </a:solidFill>
                <a:latin typeface="Calibri"/>
              </a:rPr>
              <a:t>Composante temporelle</a:t>
            </a:r>
          </a:p>
          <a:p>
            <a:pPr algn="l">
              <a:spcBef>
                <a:spcPts val="0"/>
              </a:spcBef>
              <a:spcAft>
                <a:spcPts val="200"/>
              </a:spcAft>
            </a:pPr>
            <a:r>
              <a:rPr sz="1150" b="0" i="0">
                <a:solidFill>
                  <a:srgbClr val="222831"/>
                </a:solidFill>
                <a:latin typeface="Calibri"/>
              </a:rPr>
              <a:t>linéaire (tendance,</a:t>
            </a:r>
          </a:p>
          <a:p>
            <a:pPr algn="l">
              <a:spcBef>
                <a:spcPts val="0"/>
              </a:spcBef>
              <a:spcAft>
                <a:spcPts val="200"/>
              </a:spcAft>
            </a:pPr>
            <a:r>
              <a:rPr sz="1150" b="0" i="0">
                <a:solidFill>
                  <a:srgbClr val="222831"/>
                </a:solidFill>
                <a:latin typeface="Calibri"/>
              </a:rPr>
              <a:t>saisonnalité).</a:t>
            </a:r>
          </a:p>
        </p:txBody>
      </p:sp>
      <p:sp>
        <p:nvSpPr>
          <p:cNvPr id="5" name="Rounded Rectangle 4"/>
          <p:cNvSpPr/>
          <p:nvPr/>
        </p:nvSpPr>
        <p:spPr>
          <a:xfrm>
            <a:off x="4389120" y="1920240"/>
            <a:ext cx="3200400" cy="137160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2 · MLP</a:t>
            </a:r>
          </a:p>
          <a:p>
            <a:pPr algn="l">
              <a:spcBef>
                <a:spcPts val="0"/>
              </a:spcBef>
              <a:spcAft>
                <a:spcPts val="200"/>
              </a:spcAft>
            </a:pPr>
            <a:r>
              <a:rPr sz="1150" b="0" i="0">
                <a:solidFill>
                  <a:srgbClr val="222831"/>
                </a:solidFill>
                <a:latin typeface="Calibri"/>
              </a:rPr>
              <a:t>Réseau de neurones sur</a:t>
            </a:r>
          </a:p>
          <a:p>
            <a:pPr algn="l">
              <a:spcBef>
                <a:spcPts val="0"/>
              </a:spcBef>
              <a:spcAft>
                <a:spcPts val="200"/>
              </a:spcAft>
            </a:pPr>
            <a:r>
              <a:rPr sz="1150" b="0" i="0">
                <a:solidFill>
                  <a:srgbClr val="222831"/>
                </a:solidFill>
                <a:latin typeface="Calibri"/>
              </a:rPr>
              <a:t>les résidus + features</a:t>
            </a:r>
          </a:p>
          <a:p>
            <a:pPr algn="l">
              <a:spcBef>
                <a:spcPts val="0"/>
              </a:spcBef>
              <a:spcAft>
                <a:spcPts val="200"/>
              </a:spcAft>
            </a:pPr>
            <a:r>
              <a:rPr sz="1150" b="0" i="0">
                <a:solidFill>
                  <a:srgbClr val="222831"/>
                </a:solidFill>
                <a:latin typeface="Calibri"/>
              </a:rPr>
              <a:t>calendaires exogènes.</a:t>
            </a:r>
          </a:p>
        </p:txBody>
      </p:sp>
      <p:sp>
        <p:nvSpPr>
          <p:cNvPr id="6" name="Rounded Rectangle 5"/>
          <p:cNvSpPr/>
          <p:nvPr/>
        </p:nvSpPr>
        <p:spPr>
          <a:xfrm>
            <a:off x="7955279" y="1920240"/>
            <a:ext cx="3383280" cy="137160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3 · Prédiction</a:t>
            </a:r>
          </a:p>
          <a:p>
            <a:pPr algn="l">
              <a:spcBef>
                <a:spcPts val="0"/>
              </a:spcBef>
              <a:spcAft>
                <a:spcPts val="200"/>
              </a:spcAft>
            </a:pPr>
            <a:r>
              <a:rPr sz="1150" b="0" i="0">
                <a:solidFill>
                  <a:srgbClr val="222831"/>
                </a:solidFill>
                <a:latin typeface="Calibri"/>
              </a:rPr>
              <a:t>ARIMA + résidu MLP,</a:t>
            </a:r>
          </a:p>
          <a:p>
            <a:pPr algn="l">
              <a:spcBef>
                <a:spcPts val="0"/>
              </a:spcBef>
              <a:spcAft>
                <a:spcPts val="200"/>
              </a:spcAft>
            </a:pPr>
            <a:r>
              <a:rPr sz="1150" b="0" i="0">
                <a:solidFill>
                  <a:srgbClr val="222831"/>
                </a:solidFill>
                <a:latin typeface="Calibri"/>
              </a:rPr>
              <a:t>bornée à [0, 1].</a:t>
            </a:r>
          </a:p>
          <a:p>
            <a:pPr algn="l">
              <a:spcBef>
                <a:spcPts val="0"/>
              </a:spcBef>
              <a:spcAft>
                <a:spcPts val="200"/>
              </a:spcAft>
            </a:pPr>
            <a:r>
              <a:rPr sz="1150" b="0" i="0">
                <a:solidFill>
                  <a:srgbClr val="222831"/>
                </a:solidFill>
                <a:latin typeface="Calibri"/>
              </a:rPr>
              <a:t>Évaluée par backtest.</a:t>
            </a:r>
          </a:p>
        </p:txBody>
      </p:sp>
      <p:sp>
        <p:nvSpPr>
          <p:cNvPr id="7" name="TextBox 6"/>
          <p:cNvSpPr txBox="1"/>
          <p:nvPr/>
        </p:nvSpPr>
        <p:spPr>
          <a:xfrm>
            <a:off x="1005840" y="3657600"/>
            <a:ext cx="10332720" cy="2377440"/>
          </a:xfrm>
          <a:prstGeom prst="rect">
            <a:avLst/>
          </a:prstGeom>
          <a:noFill/>
        </p:spPr>
        <p:txBody>
          <a:bodyPr wrap="square" lIns="0" tIns="0" rIns="0" bIns="0" anchor="t">
            <a:spAutoFit/>
          </a:bodyPr>
          <a:lstStyle/>
          <a:p>
            <a:pPr>
              <a:spcAft>
                <a:spcPts val="1200"/>
              </a:spcAft>
            </a:pPr>
            <a:r>
              <a:rPr sz="1550" b="1" i="0">
                <a:solidFill>
                  <a:srgbClr val="00A896"/>
                </a:solidFill>
                <a:latin typeface="Calibri"/>
              </a:rPr>
              <a:t>▸  </a:t>
            </a:r>
            <a:r>
              <a:rPr sz="1550" b="1" i="0">
                <a:solidFill>
                  <a:srgbClr val="222831"/>
                </a:solidFill>
                <a:latin typeface="Calibri"/>
              </a:rPr>
              <a:t>Features exogènes</a:t>
            </a:r>
            <a:r>
              <a:rPr sz="1550" b="0" i="0">
                <a:solidFill>
                  <a:srgbClr val="222831"/>
                </a:solidFill>
                <a:latin typeface="Calibri"/>
              </a:rPr>
              <a:t> connues à l'avance : week-end, </a:t>
            </a:r>
            <a:r>
              <a:rPr sz="1550" b="1" i="0">
                <a:solidFill>
                  <a:srgbClr val="222831"/>
                </a:solidFill>
                <a:latin typeface="Calibri"/>
              </a:rPr>
              <a:t>jours fériés</a:t>
            </a:r>
            <a:r>
              <a:rPr sz="1550" b="0" i="0">
                <a:solidFill>
                  <a:srgbClr val="222831"/>
                </a:solidFill>
                <a:latin typeface="Calibri"/>
              </a:rPr>
              <a:t>, heures de pointe → valides à l'inférence.</a:t>
            </a:r>
          </a:p>
          <a:p>
            <a:pPr>
              <a:spcAft>
                <a:spcPts val="1200"/>
              </a:spcAft>
            </a:pPr>
            <a:r>
              <a:rPr sz="1550" b="1" i="0">
                <a:solidFill>
                  <a:srgbClr val="00A896"/>
                </a:solidFill>
                <a:latin typeface="Calibri"/>
              </a:rPr>
              <a:t>▸  </a:t>
            </a:r>
            <a:r>
              <a:rPr sz="1550" b="1" i="0">
                <a:solidFill>
                  <a:srgbClr val="222831"/>
                </a:solidFill>
                <a:latin typeface="Calibri"/>
              </a:rPr>
              <a:t>Évaluation</a:t>
            </a:r>
            <a:r>
              <a:rPr sz="1550" b="0" i="0">
                <a:solidFill>
                  <a:srgbClr val="222831"/>
                </a:solidFill>
                <a:latin typeface="Calibri"/>
              </a:rPr>
              <a:t> par split temporel (backtest) : MAE / RMSE / MAPE, comparé à une baseline naïve.</a:t>
            </a:r>
          </a:p>
          <a:p>
            <a:pPr>
              <a:spcAft>
                <a:spcPts val="1200"/>
              </a:spcAft>
            </a:pPr>
            <a:r>
              <a:rPr sz="1550" b="1" i="0">
                <a:solidFill>
                  <a:srgbClr val="00A896"/>
                </a:solidFill>
                <a:latin typeface="Calibri"/>
              </a:rPr>
              <a:t>▸  </a:t>
            </a:r>
            <a:r>
              <a:rPr sz="1550" b="0" i="0">
                <a:solidFill>
                  <a:srgbClr val="222831"/>
                </a:solidFill>
                <a:latin typeface="Calibri"/>
              </a:rPr>
              <a:t>Résultat : le modèle hybride réduit l'erreur d'environ </a:t>
            </a:r>
            <a:r>
              <a:rPr sz="1550" b="1" i="0">
                <a:solidFill>
                  <a:srgbClr val="222831"/>
                </a:solidFill>
                <a:latin typeface="Calibri"/>
              </a:rPr>
              <a:t>50 %</a:t>
            </a:r>
            <a:r>
              <a:rPr sz="1550" b="0" i="0">
                <a:solidFill>
                  <a:srgbClr val="222831"/>
                </a:solidFill>
                <a:latin typeface="Calibri"/>
              </a:rPr>
              <a:t> par rapport à la baseline.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37E"/>
        </a:solidFill>
        <a:effectLst/>
      </p:bgPr>
    </p:bg>
    <p:spTree>
      <p:nvGrpSpPr>
        <p:cNvPr id="1" name=""/>
        <p:cNvGrpSpPr/>
        <p:nvPr/>
      </p:nvGrpSpPr>
      <p:grpSpPr>
        <a:xfrm>
          <a:off x="0" y="0"/>
          <a:ext cx="0" cy="0"/>
          <a:chOff x="0" y="0"/>
          <a:chExt cx="0" cy="0"/>
        </a:xfrm>
      </p:grpSpPr>
      <p:sp>
        <p:nvSpPr>
          <p:cNvPr id="2" name="TextBox 1"/>
          <p:cNvSpPr txBox="1"/>
          <p:nvPr/>
        </p:nvSpPr>
        <p:spPr>
          <a:xfrm>
            <a:off x="914400" y="2743200"/>
            <a:ext cx="10332720" cy="1371600"/>
          </a:xfrm>
          <a:prstGeom prst="rect">
            <a:avLst/>
          </a:prstGeom>
          <a:noFill/>
        </p:spPr>
        <p:txBody>
          <a:bodyPr wrap="square" lIns="0" tIns="0" rIns="0" bIns="0" anchor="ctr">
            <a:spAutoFit/>
          </a:bodyPr>
          <a:lstStyle/>
          <a:p>
            <a:pPr algn="l">
              <a:spcBef>
                <a:spcPts val="0"/>
              </a:spcBef>
              <a:spcAft>
                <a:spcPts val="600"/>
              </a:spcAft>
            </a:pPr>
            <a:r>
              <a:rPr sz="4400" b="1" i="0">
                <a:solidFill>
                  <a:srgbClr val="FFFFFF"/>
                </a:solidFill>
                <a:latin typeface="Trebuchet MS"/>
              </a:rPr>
              <a:t>Démonstration</a:t>
            </a:r>
          </a:p>
          <a:p>
            <a:pPr algn="l">
              <a:spcBef>
                <a:spcPts val="0"/>
              </a:spcBef>
              <a:spcAft>
                <a:spcPts val="600"/>
              </a:spcAft>
            </a:pPr>
            <a:r>
              <a:rPr sz="1800" b="0" i="0">
                <a:solidFill>
                  <a:srgbClr val="CADCFC"/>
                </a:solidFill>
                <a:latin typeface="Calibri"/>
              </a:rPr>
              <a:t>Le dashboard en action — http://localhost:8501</a:t>
            </a:r>
          </a:p>
        </p:txBody>
      </p:sp>
      <p:sp>
        <p:nvSpPr>
          <p:cNvPr id="3" name="Rectangle 2"/>
          <p:cNvSpPr/>
          <p:nvPr/>
        </p:nvSpPr>
        <p:spPr>
          <a:xfrm>
            <a:off x="914400" y="2560320"/>
            <a:ext cx="2194560" cy="73152"/>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Démo · Vue d'ensemble</a:t>
            </a:r>
          </a:p>
        </p:txBody>
      </p:sp>
      <p:pic>
        <p:nvPicPr>
          <p:cNvPr id="4" name="Picture 3" descr="r_overview.png"/>
          <p:cNvPicPr>
            <a:picLocks noChangeAspect="1"/>
          </p:cNvPicPr>
          <p:nvPr/>
        </p:nvPicPr>
        <p:blipFill>
          <a:blip r:embed="rId3"/>
          <a:stretch>
            <a:fillRect/>
          </a:stretch>
        </p:blipFill>
        <p:spPr>
          <a:xfrm>
            <a:off x="640080" y="1783080"/>
            <a:ext cx="6272784" cy="4480560"/>
          </a:xfrm>
          <a:prstGeom prst="rect">
            <a:avLst/>
          </a:prstGeom>
        </p:spPr>
      </p:pic>
      <p:sp>
        <p:nvSpPr>
          <p:cNvPr id="5" name="TextBox 4"/>
          <p:cNvSpPr txBox="1"/>
          <p:nvPr/>
        </p:nvSpPr>
        <p:spPr>
          <a:xfrm>
            <a:off x="640080" y="6263640"/>
            <a:ext cx="70408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Onglet Vue d'ensemble : KPIs, recommandations, carte, prédiction.</a:t>
            </a:r>
          </a:p>
        </p:txBody>
      </p:sp>
      <p:sp>
        <p:nvSpPr>
          <p:cNvPr id="6" name="TextBox 5"/>
          <p:cNvSpPr txBox="1"/>
          <p:nvPr/>
        </p:nvSpPr>
        <p:spPr>
          <a:xfrm>
            <a:off x="7955279" y="1920240"/>
            <a:ext cx="3657600" cy="4206240"/>
          </a:xfrm>
          <a:prstGeom prst="rect">
            <a:avLst/>
          </a:prstGeom>
          <a:noFill/>
        </p:spPr>
        <p:txBody>
          <a:bodyPr wrap="square" lIns="0" tIns="0" rIns="0" bIns="0" anchor="t">
            <a:spAutoFit/>
          </a:bodyPr>
          <a:lstStyle/>
          <a:p>
            <a:pPr>
              <a:spcAft>
                <a:spcPts val="1200"/>
              </a:spcAft>
            </a:pPr>
            <a:r>
              <a:rPr sz="1500" b="1" i="0">
                <a:solidFill>
                  <a:srgbClr val="00A896"/>
                </a:solidFill>
                <a:latin typeface="Calibri"/>
              </a:rPr>
              <a:t>▸  </a:t>
            </a:r>
            <a:r>
              <a:rPr sz="1500" b="1" i="0">
                <a:solidFill>
                  <a:srgbClr val="222831"/>
                </a:solidFill>
                <a:latin typeface="Calibri"/>
              </a:rPr>
              <a:t>État du trafic</a:t>
            </a:r>
            <a:r>
              <a:rPr sz="1500" b="0" i="0">
                <a:solidFill>
                  <a:srgbClr val="222831"/>
                </a:solidFill>
                <a:latin typeface="Calibri"/>
              </a:rPr>
              <a:t> en temps réel (congestion, vitesse).</a:t>
            </a:r>
          </a:p>
          <a:p>
            <a:pPr>
              <a:spcAft>
                <a:spcPts val="1200"/>
              </a:spcAft>
            </a:pPr>
            <a:r>
              <a:rPr sz="1500" b="1" i="0">
                <a:solidFill>
                  <a:srgbClr val="00A896"/>
                </a:solidFill>
                <a:latin typeface="Calibri"/>
              </a:rPr>
              <a:t>▸  </a:t>
            </a:r>
            <a:r>
              <a:rPr sz="1500" b="1" i="0">
                <a:solidFill>
                  <a:srgbClr val="222831"/>
                </a:solidFill>
                <a:latin typeface="Calibri"/>
              </a:rPr>
              <a:t>Recommandations</a:t>
            </a:r>
            <a:r>
              <a:rPr sz="1500" b="0" i="0">
                <a:solidFill>
                  <a:srgbClr val="222831"/>
                </a:solidFill>
                <a:latin typeface="Calibri"/>
              </a:rPr>
              <a:t> mobilité et écologiques.</a:t>
            </a:r>
          </a:p>
          <a:p>
            <a:pPr>
              <a:spcAft>
                <a:spcPts val="1200"/>
              </a:spcAft>
            </a:pPr>
            <a:r>
              <a:rPr sz="1500" b="1" i="0">
                <a:solidFill>
                  <a:srgbClr val="00A896"/>
                </a:solidFill>
                <a:latin typeface="Calibri"/>
              </a:rPr>
              <a:t>▸  </a:t>
            </a:r>
            <a:r>
              <a:rPr sz="1500" b="1" i="0">
                <a:solidFill>
                  <a:srgbClr val="222831"/>
                </a:solidFill>
                <a:latin typeface="Calibri"/>
              </a:rPr>
              <a:t>Carte</a:t>
            </a:r>
            <a:r>
              <a:rPr sz="1500" b="0" i="0">
                <a:solidFill>
                  <a:srgbClr val="222831"/>
                </a:solidFill>
                <a:latin typeface="Calibri"/>
              </a:rPr>
              <a:t> des zones surveillées.</a:t>
            </a:r>
          </a:p>
          <a:p>
            <a:pPr>
              <a:spcAft>
                <a:spcPts val="1200"/>
              </a:spcAft>
            </a:pPr>
            <a:r>
              <a:rPr sz="1500" b="1" i="0">
                <a:solidFill>
                  <a:srgbClr val="00A896"/>
                </a:solidFill>
                <a:latin typeface="Calibri"/>
              </a:rPr>
              <a:t>▸  </a:t>
            </a:r>
            <a:r>
              <a:rPr sz="1500" b="0" i="0">
                <a:solidFill>
                  <a:srgbClr val="222831"/>
                </a:solidFill>
                <a:latin typeface="Calibri"/>
              </a:rPr>
              <a:t>Formulaire de </a:t>
            </a:r>
            <a:r>
              <a:rPr sz="1500" b="1" i="0">
                <a:solidFill>
                  <a:srgbClr val="222831"/>
                </a:solidFill>
                <a:latin typeface="Calibri"/>
              </a:rPr>
              <a:t>signalement citoyen</a:t>
            </a:r>
            <a:r>
              <a:rPr sz="1500" b="0" i="0">
                <a:solidFill>
                  <a:srgbClr val="222831"/>
                </a:solidFill>
                <a:latin typeface="Calibri"/>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Démo · Itinéraire intelligent (choix utilisateur)</a:t>
            </a:r>
          </a:p>
        </p:txBody>
      </p:sp>
      <p:pic>
        <p:nvPicPr>
          <p:cNvPr id="4" name="Picture 3" descr="r_route.png"/>
          <p:cNvPicPr>
            <a:picLocks noChangeAspect="1"/>
          </p:cNvPicPr>
          <p:nvPr/>
        </p:nvPicPr>
        <p:blipFill>
          <a:blip r:embed="rId3"/>
          <a:stretch>
            <a:fillRect/>
          </a:stretch>
        </p:blipFill>
        <p:spPr>
          <a:xfrm>
            <a:off x="640080" y="1783080"/>
            <a:ext cx="6272784" cy="4480560"/>
          </a:xfrm>
          <a:prstGeom prst="rect">
            <a:avLst/>
          </a:prstGeom>
        </p:spPr>
      </p:pic>
      <p:sp>
        <p:nvSpPr>
          <p:cNvPr id="5" name="TextBox 4"/>
          <p:cNvSpPr txBox="1"/>
          <p:nvPr/>
        </p:nvSpPr>
        <p:spPr>
          <a:xfrm>
            <a:off x="640080" y="6263640"/>
            <a:ext cx="70408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Plusieurs itinéraires classés par durée prévue ; l'utilisateur choisit.</a:t>
            </a:r>
          </a:p>
        </p:txBody>
      </p:sp>
      <p:sp>
        <p:nvSpPr>
          <p:cNvPr id="6" name="TextBox 5"/>
          <p:cNvSpPr txBox="1"/>
          <p:nvPr/>
        </p:nvSpPr>
        <p:spPr>
          <a:xfrm>
            <a:off x="7955279" y="1920240"/>
            <a:ext cx="3657600" cy="4206240"/>
          </a:xfrm>
          <a:prstGeom prst="rect">
            <a:avLst/>
          </a:prstGeom>
          <a:noFill/>
        </p:spPr>
        <p:txBody>
          <a:bodyPr wrap="square" lIns="0" tIns="0" rIns="0" bIns="0" anchor="t">
            <a:spAutoFit/>
          </a:bodyPr>
          <a:lstStyle/>
          <a:p>
            <a:pPr>
              <a:spcAft>
                <a:spcPts val="1200"/>
              </a:spcAft>
            </a:pPr>
            <a:r>
              <a:rPr sz="1500" b="1" i="0">
                <a:solidFill>
                  <a:srgbClr val="00A896"/>
                </a:solidFill>
                <a:latin typeface="Calibri"/>
              </a:rPr>
              <a:t>▸  </a:t>
            </a:r>
            <a:r>
              <a:rPr sz="1500" b="0" i="0">
                <a:solidFill>
                  <a:srgbClr val="222831"/>
                </a:solidFill>
                <a:latin typeface="Calibri"/>
              </a:rPr>
              <a:t>Saisie </a:t>
            </a:r>
            <a:r>
              <a:rPr sz="1500" b="1" i="0">
                <a:solidFill>
                  <a:srgbClr val="222831"/>
                </a:solidFill>
                <a:latin typeface="Calibri"/>
              </a:rPr>
              <a:t>départ → arrivée</a:t>
            </a:r>
            <a:r>
              <a:rPr sz="1500" b="0" i="0">
                <a:solidFill>
                  <a:srgbClr val="222831"/>
                </a:solidFill>
                <a:latin typeface="Calibri"/>
              </a:rPr>
              <a:t>.</a:t>
            </a:r>
          </a:p>
          <a:p>
            <a:pPr>
              <a:spcAft>
                <a:spcPts val="1200"/>
              </a:spcAft>
            </a:pPr>
            <a:r>
              <a:rPr sz="1500" b="1" i="0">
                <a:solidFill>
                  <a:srgbClr val="00A896"/>
                </a:solidFill>
                <a:latin typeface="Calibri"/>
              </a:rPr>
              <a:t>▸  </a:t>
            </a:r>
            <a:r>
              <a:rPr sz="1500" b="1" i="0">
                <a:solidFill>
                  <a:srgbClr val="222831"/>
                </a:solidFill>
                <a:latin typeface="Calibri"/>
              </a:rPr>
              <a:t>Plusieurs itinéraires</a:t>
            </a:r>
            <a:r>
              <a:rPr sz="1500" b="0" i="0">
                <a:solidFill>
                  <a:srgbClr val="222831"/>
                </a:solidFill>
                <a:latin typeface="Calibri"/>
              </a:rPr>
              <a:t> alternatifs calculés.</a:t>
            </a:r>
          </a:p>
          <a:p>
            <a:pPr>
              <a:spcAft>
                <a:spcPts val="1200"/>
              </a:spcAft>
            </a:pPr>
            <a:r>
              <a:rPr sz="1500" b="1" i="0">
                <a:solidFill>
                  <a:srgbClr val="00A896"/>
                </a:solidFill>
                <a:latin typeface="Calibri"/>
              </a:rPr>
              <a:t>▸  </a:t>
            </a:r>
            <a:r>
              <a:rPr sz="1500" b="0" i="0">
                <a:solidFill>
                  <a:srgbClr val="222831"/>
                </a:solidFill>
                <a:latin typeface="Calibri"/>
              </a:rPr>
              <a:t>Classés par </a:t>
            </a:r>
            <a:r>
              <a:rPr sz="1500" b="1" i="0">
                <a:solidFill>
                  <a:srgbClr val="222831"/>
                </a:solidFill>
                <a:latin typeface="Calibri"/>
              </a:rPr>
              <a:t>durée prévue</a:t>
            </a:r>
            <a:r>
              <a:rPr sz="1500" b="0" i="0">
                <a:solidFill>
                  <a:srgbClr val="222831"/>
                </a:solidFill>
                <a:latin typeface="Calibri"/>
              </a:rPr>
              <a:t> (perturbations incluses).</a:t>
            </a:r>
          </a:p>
          <a:p>
            <a:pPr>
              <a:spcAft>
                <a:spcPts val="1200"/>
              </a:spcAft>
            </a:pPr>
            <a:r>
              <a:rPr sz="1500" b="1" i="0">
                <a:solidFill>
                  <a:srgbClr val="00A896"/>
                </a:solidFill>
                <a:latin typeface="Calibri"/>
              </a:rPr>
              <a:t>▸  </a:t>
            </a:r>
            <a:r>
              <a:rPr sz="1500" b="0" i="0">
                <a:solidFill>
                  <a:srgbClr val="222831"/>
                </a:solidFill>
                <a:latin typeface="Calibri"/>
              </a:rPr>
              <a:t>Le </a:t>
            </a:r>
            <a:r>
              <a:rPr sz="1500" b="1" i="0">
                <a:solidFill>
                  <a:srgbClr val="222831"/>
                </a:solidFill>
                <a:latin typeface="Calibri"/>
              </a:rPr>
              <a:t>plus rapide</a:t>
            </a:r>
            <a:r>
              <a:rPr sz="1500" b="0" i="0">
                <a:solidFill>
                  <a:srgbClr val="222831"/>
                </a:solidFill>
                <a:latin typeface="Calibri"/>
              </a:rPr>
              <a:t> marqué ⚡ ; trajet </a:t>
            </a:r>
            <a:r>
              <a:rPr sz="1500" b="1" i="0">
                <a:solidFill>
                  <a:srgbClr val="222831"/>
                </a:solidFill>
                <a:latin typeface="Calibri"/>
              </a:rPr>
              <a:t>coloré</a:t>
            </a:r>
            <a:r>
              <a:rPr sz="1500" b="0" i="0">
                <a:solidFill>
                  <a:srgbClr val="222831"/>
                </a:solidFill>
                <a:latin typeface="Calibri"/>
              </a:rPr>
              <a:t> selon la congestion.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Démo · Carte thermique de congestion</a:t>
            </a:r>
          </a:p>
        </p:txBody>
      </p:sp>
      <p:pic>
        <p:nvPicPr>
          <p:cNvPr id="4" name="Picture 3" descr="r_heatmap.png"/>
          <p:cNvPicPr>
            <a:picLocks noChangeAspect="1"/>
          </p:cNvPicPr>
          <p:nvPr/>
        </p:nvPicPr>
        <p:blipFill>
          <a:blip r:embed="rId3"/>
          <a:stretch>
            <a:fillRect/>
          </a:stretch>
        </p:blipFill>
        <p:spPr>
          <a:xfrm>
            <a:off x="640080" y="1783080"/>
            <a:ext cx="6272784" cy="4480560"/>
          </a:xfrm>
          <a:prstGeom prst="rect">
            <a:avLst/>
          </a:prstGeom>
        </p:spPr>
      </p:pic>
      <p:sp>
        <p:nvSpPr>
          <p:cNvPr id="5" name="TextBox 4"/>
          <p:cNvSpPr txBox="1"/>
          <p:nvPr/>
        </p:nvSpPr>
        <p:spPr>
          <a:xfrm>
            <a:off x="640080" y="6263640"/>
            <a:ext cx="70408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Intensité de congestion par zone (vert → rouge).</a:t>
            </a:r>
          </a:p>
        </p:txBody>
      </p:sp>
      <p:sp>
        <p:nvSpPr>
          <p:cNvPr id="6" name="TextBox 5"/>
          <p:cNvSpPr txBox="1"/>
          <p:nvPr/>
        </p:nvSpPr>
        <p:spPr>
          <a:xfrm>
            <a:off x="7955279" y="1920240"/>
            <a:ext cx="3657600" cy="4206240"/>
          </a:xfrm>
          <a:prstGeom prst="rect">
            <a:avLst/>
          </a:prstGeom>
          <a:noFill/>
        </p:spPr>
        <p:txBody>
          <a:bodyPr wrap="square" lIns="0" tIns="0" rIns="0" bIns="0" anchor="t">
            <a:spAutoFit/>
          </a:bodyPr>
          <a:lstStyle/>
          <a:p>
            <a:pPr>
              <a:spcAft>
                <a:spcPts val="1200"/>
              </a:spcAft>
            </a:pPr>
            <a:r>
              <a:rPr sz="1500" b="1" i="0">
                <a:solidFill>
                  <a:srgbClr val="00A896"/>
                </a:solidFill>
                <a:latin typeface="Calibri"/>
              </a:rPr>
              <a:t>▸  </a:t>
            </a:r>
            <a:r>
              <a:rPr sz="1500" b="0" i="0">
                <a:solidFill>
                  <a:srgbClr val="222831"/>
                </a:solidFill>
                <a:latin typeface="Calibri"/>
              </a:rPr>
              <a:t>Vision </a:t>
            </a:r>
            <a:r>
              <a:rPr sz="1500" b="1" i="0">
                <a:solidFill>
                  <a:srgbClr val="222831"/>
                </a:solidFill>
                <a:latin typeface="Calibri"/>
              </a:rPr>
              <a:t>synthétique</a:t>
            </a:r>
            <a:r>
              <a:rPr sz="1500" b="0" i="0">
                <a:solidFill>
                  <a:srgbClr val="222831"/>
                </a:solidFill>
                <a:latin typeface="Calibri"/>
              </a:rPr>
              <a:t> de la ville.</a:t>
            </a:r>
          </a:p>
          <a:p>
            <a:pPr>
              <a:spcAft>
                <a:spcPts val="1200"/>
              </a:spcAft>
            </a:pPr>
            <a:r>
              <a:rPr sz="1500" b="1" i="0">
                <a:solidFill>
                  <a:srgbClr val="00A896"/>
                </a:solidFill>
                <a:latin typeface="Calibri"/>
              </a:rPr>
              <a:t>▸  </a:t>
            </a:r>
            <a:r>
              <a:rPr sz="1500" b="0" i="0">
                <a:solidFill>
                  <a:srgbClr val="222831"/>
                </a:solidFill>
                <a:latin typeface="Calibri"/>
              </a:rPr>
              <a:t>Points chauds = zones </a:t>
            </a:r>
            <a:r>
              <a:rPr sz="1500" b="1" i="0">
                <a:solidFill>
                  <a:srgbClr val="222831"/>
                </a:solidFill>
                <a:latin typeface="Calibri"/>
              </a:rPr>
              <a:t>saturées</a:t>
            </a:r>
            <a:r>
              <a:rPr sz="1500" b="0" i="0">
                <a:solidFill>
                  <a:srgbClr val="222831"/>
                </a:solidFill>
                <a:latin typeface="Calibri"/>
              </a:rPr>
              <a:t>.</a:t>
            </a:r>
          </a:p>
          <a:p>
            <a:pPr>
              <a:spcAft>
                <a:spcPts val="1200"/>
              </a:spcAft>
            </a:pPr>
            <a:r>
              <a:rPr sz="1500" b="1" i="0">
                <a:solidFill>
                  <a:srgbClr val="00A896"/>
                </a:solidFill>
                <a:latin typeface="Calibri"/>
              </a:rPr>
              <a:t>▸  </a:t>
            </a:r>
            <a:r>
              <a:rPr sz="1500" b="0" i="0">
                <a:solidFill>
                  <a:srgbClr val="222831"/>
                </a:solidFill>
                <a:latin typeface="Calibri"/>
              </a:rPr>
              <a:t>Exploite la couche </a:t>
            </a:r>
            <a:r>
              <a:rPr sz="1500" b="1" i="0">
                <a:solidFill>
                  <a:srgbClr val="222831"/>
                </a:solidFill>
                <a:latin typeface="Calibri"/>
              </a:rPr>
              <a:t>PostGIS</a:t>
            </a:r>
            <a:r>
              <a:rPr sz="1500" b="0" i="0">
                <a:solidFill>
                  <a:srgbClr val="222831"/>
                </a:solidFill>
                <a:latin typeface="Calibri"/>
              </a:rPr>
              <a:t>.</a:t>
            </a:r>
          </a:p>
          <a:p>
            <a:pPr>
              <a:spcAft>
                <a:spcPts val="1200"/>
              </a:spcAft>
            </a:pPr>
            <a:r>
              <a:rPr sz="1500" b="1" i="0">
                <a:solidFill>
                  <a:srgbClr val="00A896"/>
                </a:solidFill>
                <a:latin typeface="Calibri"/>
              </a:rPr>
              <a:t>▸  </a:t>
            </a:r>
            <a:r>
              <a:rPr sz="1500" b="0" i="0">
                <a:solidFill>
                  <a:srgbClr val="222831"/>
                </a:solidFill>
                <a:latin typeface="Calibri"/>
              </a:rPr>
              <a:t>Répond à l'exigence « cartes thermiques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Démo · Environnement (qualité de l'air)</a:t>
            </a:r>
          </a:p>
        </p:txBody>
      </p:sp>
      <p:pic>
        <p:nvPicPr>
          <p:cNvPr id="4" name="Picture 3" descr="r_env.png"/>
          <p:cNvPicPr>
            <a:picLocks noChangeAspect="1"/>
          </p:cNvPicPr>
          <p:nvPr/>
        </p:nvPicPr>
        <p:blipFill>
          <a:blip r:embed="rId3"/>
          <a:stretch>
            <a:fillRect/>
          </a:stretch>
        </p:blipFill>
        <p:spPr>
          <a:xfrm>
            <a:off x="640080" y="1783080"/>
            <a:ext cx="6272784" cy="4480560"/>
          </a:xfrm>
          <a:prstGeom prst="rect">
            <a:avLst/>
          </a:prstGeom>
        </p:spPr>
      </p:pic>
      <p:sp>
        <p:nvSpPr>
          <p:cNvPr id="5" name="TextBox 4"/>
          <p:cNvSpPr txBox="1"/>
          <p:nvPr/>
        </p:nvSpPr>
        <p:spPr>
          <a:xfrm>
            <a:off x="640080" y="6263640"/>
            <a:ext cx="70408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PM2.5, NO₂, AQI, température et séries temporelles.</a:t>
            </a:r>
          </a:p>
        </p:txBody>
      </p:sp>
      <p:sp>
        <p:nvSpPr>
          <p:cNvPr id="6" name="TextBox 5"/>
          <p:cNvSpPr txBox="1"/>
          <p:nvPr/>
        </p:nvSpPr>
        <p:spPr>
          <a:xfrm>
            <a:off x="7955279" y="1920240"/>
            <a:ext cx="3657600" cy="4206240"/>
          </a:xfrm>
          <a:prstGeom prst="rect">
            <a:avLst/>
          </a:prstGeom>
          <a:noFill/>
        </p:spPr>
        <p:txBody>
          <a:bodyPr wrap="square" lIns="0" tIns="0" rIns="0" bIns="0" anchor="t">
            <a:spAutoFit/>
          </a:bodyPr>
          <a:lstStyle/>
          <a:p>
            <a:pPr>
              <a:spcAft>
                <a:spcPts val="1200"/>
              </a:spcAft>
            </a:pPr>
            <a:r>
              <a:rPr sz="1500" b="1" i="0">
                <a:solidFill>
                  <a:srgbClr val="00A896"/>
                </a:solidFill>
                <a:latin typeface="Calibri"/>
              </a:rPr>
              <a:t>▸  </a:t>
            </a:r>
            <a:r>
              <a:rPr sz="1500" b="0" i="0">
                <a:solidFill>
                  <a:srgbClr val="222831"/>
                </a:solidFill>
                <a:latin typeface="Calibri"/>
              </a:rPr>
              <a:t>Indicateurs </a:t>
            </a:r>
            <a:r>
              <a:rPr sz="1500" b="1" i="0">
                <a:solidFill>
                  <a:srgbClr val="222831"/>
                </a:solidFill>
                <a:latin typeface="Calibri"/>
              </a:rPr>
              <a:t>qualité de l'air</a:t>
            </a:r>
            <a:r>
              <a:rPr sz="1500" b="0" i="0">
                <a:solidFill>
                  <a:srgbClr val="222831"/>
                </a:solidFill>
                <a:latin typeface="Calibri"/>
              </a:rPr>
              <a:t> en direct.</a:t>
            </a:r>
          </a:p>
          <a:p>
            <a:pPr>
              <a:spcAft>
                <a:spcPts val="1200"/>
              </a:spcAft>
            </a:pPr>
            <a:r>
              <a:rPr sz="1500" b="1" i="0">
                <a:solidFill>
                  <a:srgbClr val="00A896"/>
                </a:solidFill>
                <a:latin typeface="Calibri"/>
              </a:rPr>
              <a:t>▸  </a:t>
            </a:r>
            <a:r>
              <a:rPr sz="1500" b="1" i="0">
                <a:solidFill>
                  <a:srgbClr val="222831"/>
                </a:solidFill>
                <a:latin typeface="Calibri"/>
              </a:rPr>
              <a:t>Séries temporelles</a:t>
            </a:r>
            <a:r>
              <a:rPr sz="1500" b="0" i="0">
                <a:solidFill>
                  <a:srgbClr val="222831"/>
                </a:solidFill>
                <a:latin typeface="Calibri"/>
              </a:rPr>
              <a:t> des polluants.</a:t>
            </a:r>
          </a:p>
          <a:p>
            <a:pPr>
              <a:spcAft>
                <a:spcPts val="1200"/>
              </a:spcAft>
            </a:pPr>
            <a:r>
              <a:rPr sz="1500" b="1" i="0">
                <a:solidFill>
                  <a:srgbClr val="00A896"/>
                </a:solidFill>
                <a:latin typeface="Calibri"/>
              </a:rPr>
              <a:t>▸  </a:t>
            </a:r>
            <a:r>
              <a:rPr sz="1500" b="0" i="0">
                <a:solidFill>
                  <a:srgbClr val="222831"/>
                </a:solidFill>
                <a:latin typeface="Calibri"/>
              </a:rPr>
              <a:t>Données </a:t>
            </a:r>
            <a:r>
              <a:rPr sz="1500" b="1" i="0">
                <a:solidFill>
                  <a:srgbClr val="222831"/>
                </a:solidFill>
                <a:latin typeface="Calibri"/>
              </a:rPr>
              <a:t>Open-Meteo</a:t>
            </a:r>
            <a:r>
              <a:rPr sz="1500" b="0" i="0">
                <a:solidFill>
                  <a:srgbClr val="222831"/>
                </a:solidFill>
                <a:latin typeface="Calibri"/>
              </a:rPr>
              <a:t> réelles.</a:t>
            </a:r>
          </a:p>
          <a:p>
            <a:pPr>
              <a:spcAft>
                <a:spcPts val="1200"/>
              </a:spcAft>
            </a:pPr>
            <a:r>
              <a:rPr sz="1500" b="1" i="0">
                <a:solidFill>
                  <a:srgbClr val="00A896"/>
                </a:solidFill>
                <a:latin typeface="Calibri"/>
              </a:rPr>
              <a:t>▸  </a:t>
            </a:r>
            <a:r>
              <a:rPr sz="1500" b="0" i="0">
                <a:solidFill>
                  <a:srgbClr val="222831"/>
                </a:solidFill>
                <a:latin typeface="Calibri"/>
              </a:rPr>
              <a:t>Axe écologique du projet.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Démo · Corrélation trafic ↔ pollution</a:t>
            </a:r>
          </a:p>
        </p:txBody>
      </p:sp>
      <p:pic>
        <p:nvPicPr>
          <p:cNvPr id="4" name="Picture 3" descr="r_corr.png"/>
          <p:cNvPicPr>
            <a:picLocks noChangeAspect="1"/>
          </p:cNvPicPr>
          <p:nvPr/>
        </p:nvPicPr>
        <p:blipFill>
          <a:blip r:embed="rId3"/>
          <a:stretch>
            <a:fillRect/>
          </a:stretch>
        </p:blipFill>
        <p:spPr>
          <a:xfrm>
            <a:off x="640080" y="1783080"/>
            <a:ext cx="6272784" cy="4480560"/>
          </a:xfrm>
          <a:prstGeom prst="rect">
            <a:avLst/>
          </a:prstGeom>
        </p:spPr>
      </p:pic>
      <p:sp>
        <p:nvSpPr>
          <p:cNvPr id="5" name="TextBox 4"/>
          <p:cNvSpPr txBox="1"/>
          <p:nvPr/>
        </p:nvSpPr>
        <p:spPr>
          <a:xfrm>
            <a:off x="640080" y="6263640"/>
            <a:ext cx="70408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Matrice de Pearson et nuage de points congestion vs polluant.</a:t>
            </a:r>
          </a:p>
        </p:txBody>
      </p:sp>
      <p:sp>
        <p:nvSpPr>
          <p:cNvPr id="6" name="TextBox 5"/>
          <p:cNvSpPr txBox="1"/>
          <p:nvPr/>
        </p:nvSpPr>
        <p:spPr>
          <a:xfrm>
            <a:off x="7955279" y="1920240"/>
            <a:ext cx="3657600" cy="4206240"/>
          </a:xfrm>
          <a:prstGeom prst="rect">
            <a:avLst/>
          </a:prstGeom>
          <a:noFill/>
        </p:spPr>
        <p:txBody>
          <a:bodyPr wrap="square" lIns="0" tIns="0" rIns="0" bIns="0" anchor="t">
            <a:spAutoFit/>
          </a:bodyPr>
          <a:lstStyle/>
          <a:p>
            <a:pPr>
              <a:spcAft>
                <a:spcPts val="1200"/>
              </a:spcAft>
            </a:pPr>
            <a:r>
              <a:rPr sz="1500" b="1" i="0">
                <a:solidFill>
                  <a:srgbClr val="00A896"/>
                </a:solidFill>
                <a:latin typeface="Calibri"/>
              </a:rPr>
              <a:t>▸  </a:t>
            </a:r>
            <a:r>
              <a:rPr sz="1500" b="1" i="0">
                <a:solidFill>
                  <a:srgbClr val="222831"/>
                </a:solidFill>
                <a:latin typeface="Calibri"/>
              </a:rPr>
              <a:t>Matrice de corrélation</a:t>
            </a:r>
            <a:r>
              <a:rPr sz="1500" b="0" i="0">
                <a:solidFill>
                  <a:srgbClr val="222831"/>
                </a:solidFill>
                <a:latin typeface="Calibri"/>
              </a:rPr>
              <a:t> (Pearson).</a:t>
            </a:r>
          </a:p>
          <a:p>
            <a:pPr>
              <a:spcAft>
                <a:spcPts val="1200"/>
              </a:spcAft>
            </a:pPr>
            <a:r>
              <a:rPr sz="1500" b="1" i="0">
                <a:solidFill>
                  <a:srgbClr val="00A896"/>
                </a:solidFill>
                <a:latin typeface="Calibri"/>
              </a:rPr>
              <a:t>▸  </a:t>
            </a:r>
            <a:r>
              <a:rPr sz="1500" b="1" i="0">
                <a:solidFill>
                  <a:srgbClr val="222831"/>
                </a:solidFill>
                <a:latin typeface="Calibri"/>
              </a:rPr>
              <a:t>Nuage de points</a:t>
            </a:r>
            <a:r>
              <a:rPr sz="1500" b="0" i="0">
                <a:solidFill>
                  <a:srgbClr val="222831"/>
                </a:solidFill>
                <a:latin typeface="Calibri"/>
              </a:rPr>
              <a:t> congestion vs polluant.</a:t>
            </a:r>
          </a:p>
          <a:p>
            <a:pPr>
              <a:spcAft>
                <a:spcPts val="1200"/>
              </a:spcAft>
            </a:pPr>
            <a:r>
              <a:rPr sz="1500" b="1" i="0">
                <a:solidFill>
                  <a:srgbClr val="00A896"/>
                </a:solidFill>
                <a:latin typeface="Calibri"/>
              </a:rPr>
              <a:t>▸  </a:t>
            </a:r>
            <a:r>
              <a:rPr sz="1500" b="0" i="0">
                <a:solidFill>
                  <a:srgbClr val="222831"/>
                </a:solidFill>
                <a:latin typeface="Calibri"/>
              </a:rPr>
              <a:t>Données alignées à </a:t>
            </a:r>
            <a:r>
              <a:rPr sz="1500" b="1" i="0">
                <a:solidFill>
                  <a:srgbClr val="222831"/>
                </a:solidFill>
                <a:latin typeface="Calibri"/>
              </a:rPr>
              <a:t>l'heure</a:t>
            </a:r>
            <a:r>
              <a:rPr sz="1500" b="0" i="0">
                <a:solidFill>
                  <a:srgbClr val="222831"/>
                </a:solidFill>
                <a:latin typeface="Calibri"/>
              </a:rPr>
              <a:t>.</a:t>
            </a:r>
          </a:p>
          <a:p>
            <a:pPr>
              <a:spcAft>
                <a:spcPts val="1200"/>
              </a:spcAft>
            </a:pPr>
            <a:r>
              <a:rPr sz="1500" b="1" i="0">
                <a:solidFill>
                  <a:srgbClr val="00A896"/>
                </a:solidFill>
                <a:latin typeface="Calibri"/>
              </a:rPr>
              <a:t>▸  </a:t>
            </a:r>
            <a:r>
              <a:rPr sz="1500" b="0" i="0">
                <a:solidFill>
                  <a:srgbClr val="222831"/>
                </a:solidFill>
                <a:latin typeface="Calibri"/>
              </a:rPr>
              <a:t>Aide à l'analyse décisionnelle.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Démo · Simulation what-if (gestionnaire)</a:t>
            </a:r>
          </a:p>
        </p:txBody>
      </p:sp>
      <p:pic>
        <p:nvPicPr>
          <p:cNvPr id="4" name="Picture 3" descr="r_sim.png"/>
          <p:cNvPicPr>
            <a:picLocks noChangeAspect="1"/>
          </p:cNvPicPr>
          <p:nvPr/>
        </p:nvPicPr>
        <p:blipFill>
          <a:blip r:embed="rId3"/>
          <a:stretch>
            <a:fillRect/>
          </a:stretch>
        </p:blipFill>
        <p:spPr>
          <a:xfrm>
            <a:off x="640080" y="1783080"/>
            <a:ext cx="6272784" cy="4480560"/>
          </a:xfrm>
          <a:prstGeom prst="rect">
            <a:avLst/>
          </a:prstGeom>
        </p:spPr>
      </p:pic>
      <p:sp>
        <p:nvSpPr>
          <p:cNvPr id="5" name="TextBox 4"/>
          <p:cNvSpPr txBox="1"/>
          <p:nvPr/>
        </p:nvSpPr>
        <p:spPr>
          <a:xfrm>
            <a:off x="640080" y="6263640"/>
            <a:ext cx="70408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Impact d'une réduction du volume de trafic sur la congestion.</a:t>
            </a:r>
          </a:p>
        </p:txBody>
      </p:sp>
      <p:sp>
        <p:nvSpPr>
          <p:cNvPr id="6" name="TextBox 5"/>
          <p:cNvSpPr txBox="1"/>
          <p:nvPr/>
        </p:nvSpPr>
        <p:spPr>
          <a:xfrm>
            <a:off x="7955279" y="1920240"/>
            <a:ext cx="3657600" cy="4206240"/>
          </a:xfrm>
          <a:prstGeom prst="rect">
            <a:avLst/>
          </a:prstGeom>
          <a:noFill/>
        </p:spPr>
        <p:txBody>
          <a:bodyPr wrap="square" lIns="0" tIns="0" rIns="0" bIns="0" anchor="t">
            <a:spAutoFit/>
          </a:bodyPr>
          <a:lstStyle/>
          <a:p>
            <a:pPr>
              <a:spcAft>
                <a:spcPts val="1200"/>
              </a:spcAft>
            </a:pPr>
            <a:r>
              <a:rPr sz="1500" b="1" i="0">
                <a:solidFill>
                  <a:srgbClr val="00A896"/>
                </a:solidFill>
                <a:latin typeface="Calibri"/>
              </a:rPr>
              <a:t>▸  </a:t>
            </a:r>
            <a:r>
              <a:rPr sz="1500" b="0" i="0">
                <a:solidFill>
                  <a:srgbClr val="222831"/>
                </a:solidFill>
                <a:latin typeface="Calibri"/>
              </a:rPr>
              <a:t>Curseur de </a:t>
            </a:r>
            <a:r>
              <a:rPr sz="1500" b="1" i="0">
                <a:solidFill>
                  <a:srgbClr val="222831"/>
                </a:solidFill>
                <a:latin typeface="Calibri"/>
              </a:rPr>
              <a:t>réduction du trafic</a:t>
            </a:r>
            <a:r>
              <a:rPr sz="1500" b="0" i="0">
                <a:solidFill>
                  <a:srgbClr val="222831"/>
                </a:solidFill>
                <a:latin typeface="Calibri"/>
              </a:rPr>
              <a:t>.</a:t>
            </a:r>
          </a:p>
          <a:p>
            <a:pPr>
              <a:spcAft>
                <a:spcPts val="1200"/>
              </a:spcAft>
            </a:pPr>
            <a:r>
              <a:rPr sz="1500" b="1" i="0">
                <a:solidFill>
                  <a:srgbClr val="00A896"/>
                </a:solidFill>
                <a:latin typeface="Calibri"/>
              </a:rPr>
              <a:t>▸  </a:t>
            </a:r>
            <a:r>
              <a:rPr sz="1500" b="0" i="0">
                <a:solidFill>
                  <a:srgbClr val="222831"/>
                </a:solidFill>
                <a:latin typeface="Calibri"/>
              </a:rPr>
              <a:t>Impact estimé sur la </a:t>
            </a:r>
            <a:r>
              <a:rPr sz="1500" b="1" i="0">
                <a:solidFill>
                  <a:srgbClr val="222831"/>
                </a:solidFill>
                <a:latin typeface="Calibri"/>
              </a:rPr>
              <a:t>congestion</a:t>
            </a:r>
            <a:r>
              <a:rPr sz="1500" b="0" i="0">
                <a:solidFill>
                  <a:srgbClr val="222831"/>
                </a:solidFill>
                <a:latin typeface="Calibri"/>
              </a:rPr>
              <a:t>.</a:t>
            </a:r>
          </a:p>
          <a:p>
            <a:pPr>
              <a:spcAft>
                <a:spcPts val="1200"/>
              </a:spcAft>
            </a:pPr>
            <a:r>
              <a:rPr sz="1500" b="1" i="0">
                <a:solidFill>
                  <a:srgbClr val="00A896"/>
                </a:solidFill>
                <a:latin typeface="Calibri"/>
              </a:rPr>
              <a:t>▸  </a:t>
            </a:r>
            <a:r>
              <a:rPr sz="1500" b="1" i="0">
                <a:solidFill>
                  <a:srgbClr val="222831"/>
                </a:solidFill>
                <a:latin typeface="Calibri"/>
              </a:rPr>
              <a:t>Gain de temps</a:t>
            </a:r>
            <a:r>
              <a:rPr sz="1500" b="0" i="0">
                <a:solidFill>
                  <a:srgbClr val="222831"/>
                </a:solidFill>
                <a:latin typeface="Calibri"/>
              </a:rPr>
              <a:t> estimé.</a:t>
            </a:r>
          </a:p>
          <a:p>
            <a:pPr>
              <a:spcAft>
                <a:spcPts val="1200"/>
              </a:spcAft>
            </a:pPr>
            <a:r>
              <a:rPr sz="1500" b="1" i="0">
                <a:solidFill>
                  <a:srgbClr val="00A896"/>
                </a:solidFill>
                <a:latin typeface="Calibri"/>
              </a:rPr>
              <a:t>▸  </a:t>
            </a:r>
            <a:r>
              <a:rPr sz="1500" b="0" i="0">
                <a:solidFill>
                  <a:srgbClr val="222831"/>
                </a:solidFill>
                <a:latin typeface="Calibri"/>
              </a:rPr>
              <a:t>Comparaison </a:t>
            </a:r>
            <a:r>
              <a:rPr sz="1500" b="1" i="0">
                <a:solidFill>
                  <a:srgbClr val="222831"/>
                </a:solidFill>
                <a:latin typeface="Calibri"/>
              </a:rPr>
              <a:t>avant / après</a:t>
            </a:r>
            <a:r>
              <a:rPr sz="1500" b="0" i="0">
                <a:solidFill>
                  <a:srgbClr val="222831"/>
                </a:solidFill>
                <a:latin typeface="Calibri"/>
              </a:rPr>
              <a:t> par zone.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Démo · API REST &amp; observabilité</a:t>
            </a:r>
          </a:p>
        </p:txBody>
      </p:sp>
      <p:pic>
        <p:nvPicPr>
          <p:cNvPr id="4" name="Picture 3" descr="r_api_eval.png"/>
          <p:cNvPicPr>
            <a:picLocks noChangeAspect="1"/>
          </p:cNvPicPr>
          <p:nvPr/>
        </p:nvPicPr>
        <p:blipFill>
          <a:blip r:embed="rId3"/>
          <a:stretch>
            <a:fillRect/>
          </a:stretch>
        </p:blipFill>
        <p:spPr>
          <a:xfrm>
            <a:off x="640080" y="1783080"/>
            <a:ext cx="6272784" cy="4480560"/>
          </a:xfrm>
          <a:prstGeom prst="rect">
            <a:avLst/>
          </a:prstGeom>
        </p:spPr>
      </p:pic>
      <p:sp>
        <p:nvSpPr>
          <p:cNvPr id="5" name="TextBox 4"/>
          <p:cNvSpPr txBox="1"/>
          <p:nvPr/>
        </p:nvSpPr>
        <p:spPr>
          <a:xfrm>
            <a:off x="640080" y="6263640"/>
            <a:ext cx="7040880" cy="365760"/>
          </a:xfrm>
          <a:prstGeom prst="rect">
            <a:avLst/>
          </a:prstGeom>
          <a:noFill/>
        </p:spPr>
        <p:txBody>
          <a:bodyPr wrap="square" lIns="0" tIns="0" rIns="0" bIns="0" anchor="t">
            <a:spAutoFit/>
          </a:bodyPr>
          <a:lstStyle/>
          <a:p>
            <a:pPr algn="ctr">
              <a:spcBef>
                <a:spcPts val="0"/>
              </a:spcBef>
              <a:spcAft>
                <a:spcPts val="600"/>
              </a:spcAft>
            </a:pPr>
            <a:r>
              <a:rPr sz="1000" b="0" i="1">
                <a:solidFill>
                  <a:srgbClr val="6B7280"/>
                </a:solidFill>
                <a:latin typeface="Calibri"/>
              </a:rPr>
              <a:t>Endpoint d'évaluation : métriques MAE/RMSE/MAPE en direct.</a:t>
            </a:r>
          </a:p>
        </p:txBody>
      </p:sp>
      <p:sp>
        <p:nvSpPr>
          <p:cNvPr id="6" name="TextBox 5"/>
          <p:cNvSpPr txBox="1"/>
          <p:nvPr/>
        </p:nvSpPr>
        <p:spPr>
          <a:xfrm>
            <a:off x="7955279" y="1920240"/>
            <a:ext cx="3657600" cy="4206240"/>
          </a:xfrm>
          <a:prstGeom prst="rect">
            <a:avLst/>
          </a:prstGeom>
          <a:noFill/>
        </p:spPr>
        <p:txBody>
          <a:bodyPr wrap="square" lIns="0" tIns="0" rIns="0" bIns="0" anchor="t">
            <a:spAutoFit/>
          </a:bodyPr>
          <a:lstStyle/>
          <a:p>
            <a:pPr>
              <a:spcAft>
                <a:spcPts val="1200"/>
              </a:spcAft>
            </a:pPr>
            <a:r>
              <a:rPr sz="1500" b="1" i="0">
                <a:solidFill>
                  <a:srgbClr val="00A896"/>
                </a:solidFill>
                <a:latin typeface="Calibri"/>
              </a:rPr>
              <a:t>▸  </a:t>
            </a:r>
            <a:r>
              <a:rPr sz="1500" b="1" i="0">
                <a:solidFill>
                  <a:srgbClr val="222831"/>
                </a:solidFill>
                <a:latin typeface="Calibri"/>
              </a:rPr>
              <a:t>~18 endpoints</a:t>
            </a:r>
            <a:r>
              <a:rPr sz="1500" b="0" i="0">
                <a:solidFill>
                  <a:srgbClr val="222831"/>
                </a:solidFill>
                <a:latin typeface="Calibri"/>
              </a:rPr>
              <a:t> REST documentés.</a:t>
            </a:r>
          </a:p>
          <a:p>
            <a:pPr>
              <a:spcAft>
                <a:spcPts val="1200"/>
              </a:spcAft>
            </a:pPr>
            <a:r>
              <a:rPr sz="1500" b="1" i="0">
                <a:solidFill>
                  <a:srgbClr val="00A896"/>
                </a:solidFill>
                <a:latin typeface="Calibri"/>
              </a:rPr>
              <a:t>▸  </a:t>
            </a:r>
            <a:r>
              <a:rPr sz="1500" b="0" i="0">
                <a:solidFill>
                  <a:srgbClr val="222831"/>
                </a:solidFill>
                <a:latin typeface="Calibri"/>
              </a:rPr>
              <a:t>Validation, pagination, </a:t>
            </a:r>
            <a:r>
              <a:rPr sz="1500" b="1" i="0">
                <a:solidFill>
                  <a:srgbClr val="222831"/>
                </a:solidFill>
                <a:latin typeface="Calibri"/>
              </a:rPr>
              <a:t>rate limiting</a:t>
            </a:r>
            <a:r>
              <a:rPr sz="1500" b="0" i="0">
                <a:solidFill>
                  <a:srgbClr val="222831"/>
                </a:solidFill>
                <a:latin typeface="Calibri"/>
              </a:rPr>
              <a:t>.</a:t>
            </a:r>
          </a:p>
          <a:p>
            <a:pPr>
              <a:spcAft>
                <a:spcPts val="1200"/>
              </a:spcAft>
            </a:pPr>
            <a:r>
              <a:rPr sz="1500" b="1" i="0">
                <a:solidFill>
                  <a:srgbClr val="00A896"/>
                </a:solidFill>
                <a:latin typeface="Calibri"/>
              </a:rPr>
              <a:t>▸  </a:t>
            </a:r>
            <a:r>
              <a:rPr sz="1500" b="0" i="0">
                <a:solidFill>
                  <a:srgbClr val="222831"/>
                </a:solidFill>
                <a:latin typeface="Calibri"/>
              </a:rPr>
              <a:t>Métriques </a:t>
            </a:r>
            <a:r>
              <a:rPr sz="1500" b="1" i="0">
                <a:solidFill>
                  <a:srgbClr val="222831"/>
                </a:solidFill>
                <a:latin typeface="Calibri"/>
              </a:rPr>
              <a:t>Prometheus</a:t>
            </a:r>
            <a:r>
              <a:rPr sz="1500" b="0" i="0">
                <a:solidFill>
                  <a:srgbClr val="222831"/>
                </a:solidFill>
                <a:latin typeface="Calibri"/>
              </a:rPr>
              <a:t> (/metrics).</a:t>
            </a:r>
          </a:p>
          <a:p>
            <a:pPr>
              <a:spcAft>
                <a:spcPts val="1200"/>
              </a:spcAft>
            </a:pPr>
            <a:r>
              <a:rPr sz="1500" b="1" i="0">
                <a:solidFill>
                  <a:srgbClr val="00A896"/>
                </a:solidFill>
                <a:latin typeface="Calibri"/>
              </a:rPr>
              <a:t>▸  </a:t>
            </a:r>
            <a:r>
              <a:rPr sz="1500" b="0" i="0">
                <a:solidFill>
                  <a:srgbClr val="222831"/>
                </a:solidFill>
                <a:latin typeface="Calibri"/>
              </a:rPr>
              <a:t>Évaluation du modèle en direct.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Résultats &amp; indicateurs</a:t>
            </a:r>
          </a:p>
        </p:txBody>
      </p:sp>
      <p:sp>
        <p:nvSpPr>
          <p:cNvPr id="4" name="Rounded Rectangle 3"/>
          <p:cNvSpPr/>
          <p:nvPr/>
        </p:nvSpPr>
        <p:spPr>
          <a:xfrm>
            <a:off x="685800" y="1920240"/>
            <a:ext cx="2606040" cy="201168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spcBef>
                <a:spcPts val="0"/>
              </a:spcBef>
              <a:spcAft>
                <a:spcPts val="400"/>
              </a:spcAft>
            </a:pPr>
            <a:r>
              <a:rPr sz="4000" b="1" i="0">
                <a:solidFill>
                  <a:srgbClr val="00A896"/>
                </a:solidFill>
                <a:latin typeface="Trebuchet MS"/>
              </a:rPr>
              <a:t>~50 %</a:t>
            </a:r>
          </a:p>
          <a:p>
            <a:pPr algn="ctr">
              <a:spcBef>
                <a:spcPts val="0"/>
              </a:spcBef>
              <a:spcAft>
                <a:spcPts val="0"/>
              </a:spcAft>
            </a:pPr>
            <a:r>
              <a:rPr sz="1300" b="0" i="0">
                <a:solidFill>
                  <a:srgbClr val="FFFFFF"/>
                </a:solidFill>
                <a:latin typeface="Calibri"/>
              </a:rPr>
              <a:t>d'erreur en moins</a:t>
            </a:r>
          </a:p>
          <a:p>
            <a:pPr algn="ctr">
              <a:spcBef>
                <a:spcPts val="0"/>
              </a:spcBef>
              <a:spcAft>
                <a:spcPts val="0"/>
              </a:spcAft>
            </a:pPr>
            <a:r>
              <a:rPr sz="1300" b="0" i="0">
                <a:solidFill>
                  <a:srgbClr val="FFFFFF"/>
                </a:solidFill>
                <a:latin typeface="Calibri"/>
              </a:rPr>
              <a:t>vs baseline naïve</a:t>
            </a:r>
          </a:p>
        </p:txBody>
      </p:sp>
      <p:sp>
        <p:nvSpPr>
          <p:cNvPr id="5" name="Rounded Rectangle 4"/>
          <p:cNvSpPr/>
          <p:nvPr/>
        </p:nvSpPr>
        <p:spPr>
          <a:xfrm>
            <a:off x="3520440" y="1920240"/>
            <a:ext cx="2606040" cy="201168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spcBef>
                <a:spcPts val="0"/>
              </a:spcBef>
              <a:spcAft>
                <a:spcPts val="400"/>
              </a:spcAft>
            </a:pPr>
            <a:r>
              <a:rPr sz="4000" b="1" i="0">
                <a:solidFill>
                  <a:srgbClr val="00A896"/>
                </a:solidFill>
                <a:latin typeface="Trebuchet MS"/>
              </a:rPr>
              <a:t>3</a:t>
            </a:r>
          </a:p>
          <a:p>
            <a:pPr algn="ctr">
              <a:spcBef>
                <a:spcPts val="0"/>
              </a:spcBef>
              <a:spcAft>
                <a:spcPts val="0"/>
              </a:spcAft>
            </a:pPr>
            <a:r>
              <a:rPr sz="1300" b="0" i="0">
                <a:solidFill>
                  <a:srgbClr val="FFFFFF"/>
                </a:solidFill>
                <a:latin typeface="Calibri"/>
              </a:rPr>
              <a:t>catégories de</a:t>
            </a:r>
          </a:p>
          <a:p>
            <a:pPr algn="ctr">
              <a:spcBef>
                <a:spcPts val="0"/>
              </a:spcBef>
              <a:spcAft>
                <a:spcPts val="0"/>
              </a:spcAft>
            </a:pPr>
            <a:r>
              <a:rPr sz="1300" b="0" i="0">
                <a:solidFill>
                  <a:srgbClr val="FFFFFF"/>
                </a:solidFill>
                <a:latin typeface="Calibri"/>
              </a:rPr>
              <a:t>données ouvertes</a:t>
            </a:r>
          </a:p>
        </p:txBody>
      </p:sp>
      <p:sp>
        <p:nvSpPr>
          <p:cNvPr id="6" name="Rounded Rectangle 5"/>
          <p:cNvSpPr/>
          <p:nvPr/>
        </p:nvSpPr>
        <p:spPr>
          <a:xfrm>
            <a:off x="6355080" y="1920240"/>
            <a:ext cx="2606040" cy="201168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spcBef>
                <a:spcPts val="0"/>
              </a:spcBef>
              <a:spcAft>
                <a:spcPts val="400"/>
              </a:spcAft>
            </a:pPr>
            <a:r>
              <a:rPr sz="4000" b="1" i="0">
                <a:solidFill>
                  <a:srgbClr val="00A896"/>
                </a:solidFill>
                <a:latin typeface="Trebuchet MS"/>
              </a:rPr>
              <a:t>7</a:t>
            </a:r>
          </a:p>
          <a:p>
            <a:pPr algn="ctr">
              <a:spcBef>
                <a:spcPts val="0"/>
              </a:spcBef>
              <a:spcAft>
                <a:spcPts val="0"/>
              </a:spcAft>
            </a:pPr>
            <a:r>
              <a:rPr sz="1300" b="0" i="0">
                <a:solidFill>
                  <a:srgbClr val="FFFFFF"/>
                </a:solidFill>
                <a:latin typeface="Calibri"/>
              </a:rPr>
              <a:t>onglets</a:t>
            </a:r>
          </a:p>
          <a:p>
            <a:pPr algn="ctr">
              <a:spcBef>
                <a:spcPts val="0"/>
              </a:spcBef>
              <a:spcAft>
                <a:spcPts val="0"/>
              </a:spcAft>
            </a:pPr>
            <a:r>
              <a:rPr sz="1300" b="0" i="0">
                <a:solidFill>
                  <a:srgbClr val="FFFFFF"/>
                </a:solidFill>
                <a:latin typeface="Calibri"/>
              </a:rPr>
              <a:t>interactifs</a:t>
            </a:r>
          </a:p>
        </p:txBody>
      </p:sp>
      <p:sp>
        <p:nvSpPr>
          <p:cNvPr id="7" name="Rounded Rectangle 6"/>
          <p:cNvSpPr/>
          <p:nvPr/>
        </p:nvSpPr>
        <p:spPr>
          <a:xfrm>
            <a:off x="9189720" y="1920240"/>
            <a:ext cx="2606040" cy="201168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spcBef>
                <a:spcPts val="0"/>
              </a:spcBef>
              <a:spcAft>
                <a:spcPts val="400"/>
              </a:spcAft>
            </a:pPr>
            <a:r>
              <a:rPr sz="4000" b="1" i="0">
                <a:solidFill>
                  <a:srgbClr val="00A896"/>
                </a:solidFill>
                <a:latin typeface="Trebuchet MS"/>
              </a:rPr>
              <a:t>~40</a:t>
            </a:r>
          </a:p>
          <a:p>
            <a:pPr algn="ctr">
              <a:spcBef>
                <a:spcPts val="0"/>
              </a:spcBef>
              <a:spcAft>
                <a:spcPts val="0"/>
              </a:spcAft>
            </a:pPr>
            <a:r>
              <a:rPr sz="1300" b="0" i="0">
                <a:solidFill>
                  <a:srgbClr val="FFFFFF"/>
                </a:solidFill>
                <a:latin typeface="Calibri"/>
              </a:rPr>
              <a:t>tests automatisés</a:t>
            </a:r>
          </a:p>
          <a:p>
            <a:pPr algn="ctr">
              <a:spcBef>
                <a:spcPts val="0"/>
              </a:spcBef>
              <a:spcAft>
                <a:spcPts val="0"/>
              </a:spcAft>
            </a:pPr>
            <a:r>
              <a:rPr sz="1300" b="0" i="0">
                <a:solidFill>
                  <a:srgbClr val="FFFFFF"/>
                </a:solidFill>
                <a:latin typeface="Calibri"/>
              </a:rPr>
              <a:t>(pytest)</a:t>
            </a:r>
          </a:p>
        </p:txBody>
      </p:sp>
      <p:sp>
        <p:nvSpPr>
          <p:cNvPr id="8" name="TextBox 7"/>
          <p:cNvSpPr txBox="1"/>
          <p:nvPr/>
        </p:nvSpPr>
        <p:spPr>
          <a:xfrm>
            <a:off x="1005840" y="4389120"/>
            <a:ext cx="10332720" cy="1645920"/>
          </a:xfrm>
          <a:prstGeom prst="rect">
            <a:avLst/>
          </a:prstGeom>
          <a:noFill/>
        </p:spPr>
        <p:txBody>
          <a:bodyPr wrap="square" lIns="0" tIns="0" rIns="0" bIns="0" anchor="t">
            <a:spAutoFit/>
          </a:bodyPr>
          <a:lstStyle/>
          <a:p>
            <a:pPr>
              <a:spcAft>
                <a:spcPts val="1000"/>
              </a:spcAft>
            </a:pPr>
            <a:r>
              <a:rPr sz="1500" b="1" i="0">
                <a:solidFill>
                  <a:srgbClr val="00A896"/>
                </a:solidFill>
                <a:latin typeface="Calibri"/>
              </a:rPr>
              <a:t>▸  </a:t>
            </a:r>
            <a:r>
              <a:rPr sz="1500" b="1" i="0">
                <a:solidFill>
                  <a:srgbClr val="222831"/>
                </a:solidFill>
                <a:latin typeface="Calibri"/>
              </a:rPr>
              <a:t>KPIs</a:t>
            </a:r>
            <a:r>
              <a:rPr sz="1500" b="0" i="0">
                <a:solidFill>
                  <a:srgbClr val="222831"/>
                </a:solidFill>
                <a:latin typeface="Calibri"/>
              </a:rPr>
              <a:t> suivis : précision des prédictions, gain de temps (simulation), participation citoyenne.</a:t>
            </a:r>
          </a:p>
          <a:p>
            <a:pPr>
              <a:spcAft>
                <a:spcPts val="1000"/>
              </a:spcAft>
            </a:pPr>
            <a:r>
              <a:rPr sz="1500" b="1" i="0">
                <a:solidFill>
                  <a:srgbClr val="00A896"/>
                </a:solidFill>
                <a:latin typeface="Calibri"/>
              </a:rPr>
              <a:t>▸  </a:t>
            </a:r>
            <a:r>
              <a:rPr sz="1500" b="0" i="0">
                <a:solidFill>
                  <a:srgbClr val="222831"/>
                </a:solidFill>
                <a:latin typeface="Calibri"/>
              </a:rPr>
              <a:t>Métriques recalculées à la demande via l'endpoint d'évaluation.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Green IT &amp; qualité logicielle</a:t>
            </a:r>
          </a:p>
        </p:txBody>
      </p:sp>
      <p:sp>
        <p:nvSpPr>
          <p:cNvPr id="4" name="Rounded Rectangle 3"/>
          <p:cNvSpPr/>
          <p:nvPr/>
        </p:nvSpPr>
        <p:spPr>
          <a:xfrm>
            <a:off x="822960" y="1828800"/>
            <a:ext cx="5120640" cy="329184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Green IT</a:t>
            </a:r>
          </a:p>
          <a:p>
            <a:pPr algn="l">
              <a:spcBef>
                <a:spcPts val="0"/>
              </a:spcBef>
              <a:spcAft>
                <a:spcPts val="200"/>
              </a:spcAft>
            </a:pPr>
            <a:r>
              <a:rPr sz="1150" b="0" i="0">
                <a:solidFill>
                  <a:srgbClr val="222831"/>
                </a:solidFill>
                <a:latin typeface="Calibri"/>
              </a:rPr>
              <a:t>• Recommandations écologiques (proxy CO₂ documenté).</a:t>
            </a:r>
          </a:p>
          <a:p>
            <a:pPr algn="l">
              <a:spcBef>
                <a:spcPts val="0"/>
              </a:spcBef>
              <a:spcAft>
                <a:spcPts val="200"/>
              </a:spcAft>
            </a:pPr>
            <a:r>
              <a:rPr sz="1150" b="0" i="0">
                <a:solidFill>
                  <a:srgbClr val="222831"/>
                </a:solidFill>
                <a:latin typeface="Calibri"/>
              </a:rPr>
              <a:t>• Conception sobre : cache, UPSERT, index, rétention 90 j.</a:t>
            </a:r>
          </a:p>
          <a:p>
            <a:pPr algn="l">
              <a:spcBef>
                <a:spcPts val="0"/>
              </a:spcBef>
              <a:spcAft>
                <a:spcPts val="200"/>
              </a:spcAft>
            </a:pPr>
            <a:r>
              <a:rPr sz="1150" b="0" i="0">
                <a:solidFill>
                  <a:srgbClr val="222831"/>
                </a:solidFill>
                <a:latin typeface="Calibri"/>
              </a:rPr>
              <a:t>• Containerisation légère vs machines virtuelles.</a:t>
            </a:r>
          </a:p>
          <a:p>
            <a:pPr algn="l">
              <a:spcBef>
                <a:spcPts val="0"/>
              </a:spcBef>
              <a:spcAft>
                <a:spcPts val="200"/>
              </a:spcAft>
            </a:pPr>
            <a:r>
              <a:rPr sz="1150" b="0" i="0">
                <a:solidFill>
                  <a:srgbClr val="222831"/>
                </a:solidFill>
                <a:latin typeface="Calibri"/>
              </a:rPr>
              <a:t>• Observabilité via métriques Prometheus.</a:t>
            </a:r>
          </a:p>
        </p:txBody>
      </p:sp>
      <p:sp>
        <p:nvSpPr>
          <p:cNvPr id="5" name="Rounded Rectangle 4"/>
          <p:cNvSpPr/>
          <p:nvPr/>
        </p:nvSpPr>
        <p:spPr>
          <a:xfrm>
            <a:off x="6217920" y="1828800"/>
            <a:ext cx="5120640" cy="329184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1A237E"/>
                </a:solidFill>
                <a:latin typeface="Trebuchet MS"/>
              </a:rPr>
              <a:t>Qualité logicielle</a:t>
            </a:r>
          </a:p>
          <a:p>
            <a:pPr algn="l">
              <a:spcBef>
                <a:spcPts val="0"/>
              </a:spcBef>
              <a:spcAft>
                <a:spcPts val="200"/>
              </a:spcAft>
            </a:pPr>
            <a:r>
              <a:rPr sz="1150" b="0" i="0">
                <a:solidFill>
                  <a:srgbClr val="222831"/>
                </a:solidFill>
                <a:latin typeface="Calibri"/>
              </a:rPr>
              <a:t>• ~40 tests automatisés (pytest).</a:t>
            </a:r>
          </a:p>
          <a:p>
            <a:pPr algn="l">
              <a:spcBef>
                <a:spcPts val="0"/>
              </a:spcBef>
              <a:spcAft>
                <a:spcPts val="200"/>
              </a:spcAft>
            </a:pPr>
            <a:r>
              <a:rPr sz="1150" b="0" i="0">
                <a:solidFill>
                  <a:srgbClr val="222831"/>
                </a:solidFill>
                <a:latin typeface="Calibri"/>
              </a:rPr>
              <a:t>• Linting (ruff) + formatage (black) + pre-commit.</a:t>
            </a:r>
          </a:p>
          <a:p>
            <a:pPr algn="l">
              <a:spcBef>
                <a:spcPts val="0"/>
              </a:spcBef>
              <a:spcAft>
                <a:spcPts val="200"/>
              </a:spcAft>
            </a:pPr>
            <a:r>
              <a:rPr sz="1150" b="0" i="0">
                <a:solidFill>
                  <a:srgbClr val="222831"/>
                </a:solidFill>
                <a:latin typeface="Calibri"/>
              </a:rPr>
              <a:t>• CI/CD GitHub Actions (build, tests, audit sécurité).</a:t>
            </a:r>
          </a:p>
          <a:p>
            <a:pPr algn="l">
              <a:spcBef>
                <a:spcPts val="0"/>
              </a:spcBef>
              <a:spcAft>
                <a:spcPts val="200"/>
              </a:spcAft>
            </a:pPr>
            <a:r>
              <a:rPr sz="1150" b="0" i="0">
                <a:solidFill>
                  <a:srgbClr val="222831"/>
                </a:solidFill>
                <a:latin typeface="Calibri"/>
              </a:rPr>
              <a:t>• Documentation README + rapport technique.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40080" y="566928"/>
            <a:ext cx="201168" cy="45720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457200"/>
            <a:ext cx="1060704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237E"/>
                </a:solidFill>
                <a:latin typeface="Trebuchet MS"/>
              </a:rPr>
              <a:t>Limites &amp; perspectives</a:t>
            </a:r>
          </a:p>
        </p:txBody>
      </p:sp>
      <p:sp>
        <p:nvSpPr>
          <p:cNvPr id="4" name="Rounded Rectangle 3"/>
          <p:cNvSpPr/>
          <p:nvPr/>
        </p:nvSpPr>
        <p:spPr>
          <a:xfrm>
            <a:off x="822960" y="1828800"/>
            <a:ext cx="5120640" cy="34747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Limites assumées</a:t>
            </a:r>
          </a:p>
          <a:p>
            <a:pPr algn="l">
              <a:spcBef>
                <a:spcPts val="0"/>
              </a:spcBef>
              <a:spcAft>
                <a:spcPts val="200"/>
              </a:spcAft>
            </a:pPr>
            <a:r>
              <a:rPr sz="1150" b="0" i="0">
                <a:solidFill>
                  <a:srgbClr val="222831"/>
                </a:solidFill>
                <a:latin typeface="Calibri"/>
              </a:rPr>
              <a:t>• Maillage de zones limité (congestion approximée).</a:t>
            </a:r>
          </a:p>
          <a:p>
            <a:pPr algn="l">
              <a:spcBef>
                <a:spcPts val="0"/>
              </a:spcBef>
              <a:spcAft>
                <a:spcPts val="200"/>
              </a:spcAft>
            </a:pPr>
            <a:r>
              <a:rPr sz="1150" b="0" i="0">
                <a:solidFill>
                  <a:srgbClr val="222831"/>
                </a:solidFill>
                <a:latin typeface="Calibri"/>
              </a:rPr>
              <a:t>• Itinéraires : alternatives limitées (OSRM démo).</a:t>
            </a:r>
          </a:p>
          <a:p>
            <a:pPr algn="l">
              <a:spcBef>
                <a:spcPts val="0"/>
              </a:spcBef>
              <a:spcAft>
                <a:spcPts val="200"/>
              </a:spcAft>
            </a:pPr>
            <a:r>
              <a:rPr sz="1150" b="0" i="0">
                <a:solidFill>
                  <a:srgbClr val="222831"/>
                </a:solidFill>
                <a:latin typeface="Calibri"/>
              </a:rPr>
              <a:t>• Modèle ré-entraîné au redémarrage (cache mémoire).</a:t>
            </a:r>
          </a:p>
          <a:p>
            <a:pPr algn="l">
              <a:spcBef>
                <a:spcPts val="0"/>
              </a:spcBef>
              <a:spcAft>
                <a:spcPts val="200"/>
              </a:spcAft>
            </a:pPr>
            <a:r>
              <a:rPr sz="1150" b="0" i="0">
                <a:solidFill>
                  <a:srgbClr val="222831"/>
                </a:solidFill>
                <a:latin typeface="Calibri"/>
              </a:rPr>
              <a:t>• Dépendance internet pour le géocodage.</a:t>
            </a:r>
          </a:p>
        </p:txBody>
      </p:sp>
      <p:sp>
        <p:nvSpPr>
          <p:cNvPr id="5" name="Rounded Rectangle 4"/>
          <p:cNvSpPr/>
          <p:nvPr/>
        </p:nvSpPr>
        <p:spPr>
          <a:xfrm>
            <a:off x="6217920" y="1828800"/>
            <a:ext cx="5120640" cy="3474720"/>
          </a:xfrm>
          <a:prstGeom prst="roundRect">
            <a:avLst/>
          </a:prstGeom>
          <a:solidFill>
            <a:srgbClr val="EEF1FA"/>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l">
              <a:spcBef>
                <a:spcPts val="0"/>
              </a:spcBef>
              <a:spcAft>
                <a:spcPts val="400"/>
              </a:spcAft>
            </a:pPr>
            <a:r>
              <a:rPr sz="1500" b="1" i="0">
                <a:solidFill>
                  <a:srgbClr val="3949AB"/>
                </a:solidFill>
                <a:latin typeface="Trebuchet MS"/>
              </a:rPr>
              <a:t>Perspectives</a:t>
            </a:r>
          </a:p>
          <a:p>
            <a:pPr algn="l">
              <a:spcBef>
                <a:spcPts val="0"/>
              </a:spcBef>
              <a:spcAft>
                <a:spcPts val="200"/>
              </a:spcAft>
            </a:pPr>
            <a:r>
              <a:rPr sz="1150" b="0" i="0">
                <a:solidFill>
                  <a:srgbClr val="222831"/>
                </a:solidFill>
                <a:latin typeface="Calibri"/>
              </a:rPr>
              <a:t>• Modèles avancés (LSTM, Prophet).</a:t>
            </a:r>
          </a:p>
          <a:p>
            <a:pPr algn="l">
              <a:spcBef>
                <a:spcPts val="0"/>
              </a:spcBef>
              <a:spcAft>
                <a:spcPts val="200"/>
              </a:spcAft>
            </a:pPr>
            <a:r>
              <a:rPr sz="1150" b="0" i="0">
                <a:solidFill>
                  <a:srgbClr val="222831"/>
                </a:solidFill>
                <a:latin typeface="Calibri"/>
              </a:rPr>
              <a:t>• Intégration GTFS (transports publics).</a:t>
            </a:r>
          </a:p>
          <a:p>
            <a:pPr algn="l">
              <a:spcBef>
                <a:spcPts val="0"/>
              </a:spcBef>
              <a:spcAft>
                <a:spcPts val="200"/>
              </a:spcAft>
            </a:pPr>
            <a:r>
              <a:rPr sz="1150" b="0" i="0">
                <a:solidFill>
                  <a:srgbClr val="222831"/>
                </a:solidFill>
                <a:latin typeface="Calibri"/>
              </a:rPr>
              <a:t>• Persistance du modèle (MLflow) + orchestration (Airflow).</a:t>
            </a:r>
          </a:p>
          <a:p>
            <a:pPr algn="l">
              <a:spcBef>
                <a:spcPts val="0"/>
              </a:spcBef>
              <a:spcAft>
                <a:spcPts val="200"/>
              </a:spcAft>
            </a:pPr>
            <a:r>
              <a:rPr sz="1150" b="0" i="0">
                <a:solidFill>
                  <a:srgbClr val="222831"/>
                </a:solidFill>
                <a:latin typeface="Calibri"/>
              </a:rPr>
              <a:t>• Application mobile (l'API est déjà prête).</a:t>
            </a:r>
          </a:p>
          <a:p>
            <a:pPr algn="l">
              <a:spcBef>
                <a:spcPts val="0"/>
              </a:spcBef>
              <a:spcAft>
                <a:spcPts val="200"/>
              </a:spcAft>
            </a:pPr>
            <a:r>
              <a:rPr sz="1150" b="0" i="0">
                <a:solidFill>
                  <a:srgbClr val="222831"/>
                </a:solidFill>
                <a:latin typeface="Calibri"/>
              </a:rPr>
              <a:t>• Monitoring Grafana + Prometheus.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237E"/>
        </a:solidFill>
        <a:effectLst/>
      </p:bgPr>
    </p:bg>
    <p:spTree>
      <p:nvGrpSpPr>
        <p:cNvPr id="1" name=""/>
        <p:cNvGrpSpPr/>
        <p:nvPr/>
      </p:nvGrpSpPr>
      <p:grpSpPr>
        <a:xfrm>
          <a:off x="0" y="0"/>
          <a:ext cx="0" cy="0"/>
          <a:chOff x="0" y="0"/>
          <a:chExt cx="0" cy="0"/>
        </a:xfrm>
      </p:grpSpPr>
      <p:sp>
        <p:nvSpPr>
          <p:cNvPr id="2" name="TextBox 1"/>
          <p:cNvSpPr txBox="1"/>
          <p:nvPr/>
        </p:nvSpPr>
        <p:spPr>
          <a:xfrm>
            <a:off x="914400" y="1280160"/>
            <a:ext cx="10332720" cy="109728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Trebuchet MS"/>
              </a:rPr>
              <a:t>Conclusion</a:t>
            </a:r>
          </a:p>
        </p:txBody>
      </p:sp>
      <p:sp>
        <p:nvSpPr>
          <p:cNvPr id="3" name="Rectangle 2"/>
          <p:cNvSpPr/>
          <p:nvPr/>
        </p:nvSpPr>
        <p:spPr>
          <a:xfrm>
            <a:off x="914400" y="1143000"/>
            <a:ext cx="2011680" cy="73152"/>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651760"/>
            <a:ext cx="10332720" cy="2743200"/>
          </a:xfrm>
          <a:prstGeom prst="rect">
            <a:avLst/>
          </a:prstGeom>
          <a:noFill/>
        </p:spPr>
        <p:txBody>
          <a:bodyPr wrap="square" lIns="0" tIns="0" rIns="0" bIns="0" anchor="t">
            <a:spAutoFit/>
          </a:bodyPr>
          <a:lstStyle/>
          <a:p>
            <a:pPr>
              <a:spcAft>
                <a:spcPts val="1600"/>
              </a:spcAft>
            </a:pPr>
            <a:r>
              <a:rPr sz="1800" b="1" i="0">
                <a:solidFill>
                  <a:srgbClr val="00A896"/>
                </a:solidFill>
                <a:latin typeface="Calibri"/>
              </a:rPr>
              <a:t>▸  </a:t>
            </a:r>
            <a:r>
              <a:rPr sz="1800" b="0" i="0">
                <a:solidFill>
                  <a:srgbClr val="CADCFC"/>
                </a:solidFill>
                <a:latin typeface="Calibri"/>
              </a:rPr>
              <a:t>Une plateforme </a:t>
            </a:r>
            <a:r>
              <a:rPr sz="1800" b="1" i="0">
                <a:solidFill>
                  <a:srgbClr val="CADCFC"/>
                </a:solidFill>
                <a:latin typeface="Calibri"/>
              </a:rPr>
              <a:t>complète et fonctionnelle</a:t>
            </a:r>
            <a:r>
              <a:rPr sz="1800" b="0" i="0">
                <a:solidFill>
                  <a:srgbClr val="CADCFC"/>
                </a:solidFill>
                <a:latin typeface="Calibri"/>
              </a:rPr>
              <a:t>, de l'ETL au dashboard.</a:t>
            </a:r>
          </a:p>
          <a:p>
            <a:pPr>
              <a:spcAft>
                <a:spcPts val="1600"/>
              </a:spcAft>
            </a:pPr>
            <a:r>
              <a:rPr sz="1800" b="1" i="0">
                <a:solidFill>
                  <a:srgbClr val="00A896"/>
                </a:solidFill>
                <a:latin typeface="Calibri"/>
              </a:rPr>
              <a:t>▸  </a:t>
            </a:r>
            <a:r>
              <a:rPr sz="1800" b="0" i="0">
                <a:solidFill>
                  <a:srgbClr val="CADCFC"/>
                </a:solidFill>
                <a:latin typeface="Calibri"/>
              </a:rPr>
              <a:t>Réponse aux exigences : prédiction, </a:t>
            </a:r>
            <a:r>
              <a:rPr sz="1800" b="1" i="0">
                <a:solidFill>
                  <a:srgbClr val="CADCFC"/>
                </a:solidFill>
                <a:latin typeface="Calibri"/>
              </a:rPr>
              <a:t>itinéraires</a:t>
            </a:r>
            <a:r>
              <a:rPr sz="1800" b="0" i="0">
                <a:solidFill>
                  <a:srgbClr val="CADCFC"/>
                </a:solidFill>
                <a:latin typeface="Calibri"/>
              </a:rPr>
              <a:t>, environnement, crowdsourcing, simulation.</a:t>
            </a:r>
          </a:p>
          <a:p>
            <a:pPr>
              <a:spcAft>
                <a:spcPts val="1600"/>
              </a:spcAft>
            </a:pPr>
            <a:r>
              <a:rPr sz="1800" b="1" i="0">
                <a:solidFill>
                  <a:srgbClr val="00A896"/>
                </a:solidFill>
                <a:latin typeface="Calibri"/>
              </a:rPr>
              <a:t>▸  </a:t>
            </a:r>
            <a:r>
              <a:rPr sz="1800" b="0" i="0">
                <a:solidFill>
                  <a:srgbClr val="CADCFC"/>
                </a:solidFill>
                <a:latin typeface="Calibri"/>
              </a:rPr>
              <a:t>Conçue pour </a:t>
            </a:r>
            <a:r>
              <a:rPr sz="1800" b="1" i="0">
                <a:solidFill>
                  <a:srgbClr val="CADCFC"/>
                </a:solidFill>
                <a:latin typeface="Calibri"/>
              </a:rPr>
              <a:t>évoluer</a:t>
            </a:r>
            <a:r>
              <a:rPr sz="1800" b="0" i="0">
                <a:solidFill>
                  <a:srgbClr val="CADCFC"/>
                </a:solidFill>
                <a:latin typeface="Calibri"/>
              </a:rPr>
              <a:t> : architecture modulaire, API stable, code testé.</a:t>
            </a:r>
          </a:p>
        </p:txBody>
      </p:sp>
      <p:sp>
        <p:nvSpPr>
          <p:cNvPr id="5" name="TextBox 4"/>
          <p:cNvSpPr txBox="1"/>
          <p:nvPr/>
        </p:nvSpPr>
        <p:spPr>
          <a:xfrm>
            <a:off x="914400" y="5577840"/>
            <a:ext cx="10332720" cy="731520"/>
          </a:xfrm>
          <a:prstGeom prst="rect">
            <a:avLst/>
          </a:prstGeom>
          <a:noFill/>
        </p:spPr>
        <p:txBody>
          <a:bodyPr wrap="square" lIns="0" tIns="0" rIns="0" bIns="0" anchor="t">
            <a:spAutoFit/>
          </a:bodyPr>
          <a:lstStyle/>
          <a:p>
            <a:pPr algn="l">
              <a:spcBef>
                <a:spcPts val="0"/>
              </a:spcBef>
              <a:spcAft>
                <a:spcPts val="600"/>
              </a:spcAft>
            </a:pPr>
            <a:r>
              <a:rPr sz="2200" b="1" i="0">
                <a:solidFill>
                  <a:srgbClr val="00A896"/>
                </a:solidFill>
                <a:latin typeface="Trebuchet MS"/>
              </a:rPr>
              <a:t>Merci de votre attention —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2225</Words>
  <Application>Microsoft Office PowerPoint</Application>
  <PresentationFormat>Grand écran</PresentationFormat>
  <Paragraphs>187</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Trebuchet MS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SALGHAT Issam</cp:lastModifiedBy>
  <cp:revision>2</cp:revision>
  <dcterms:created xsi:type="dcterms:W3CDTF">2013-01-27T09:14:16Z</dcterms:created>
  <dcterms:modified xsi:type="dcterms:W3CDTF">2026-06-14T13:57:01Z</dcterms:modified>
  <cp:category/>
</cp:coreProperties>
</file>